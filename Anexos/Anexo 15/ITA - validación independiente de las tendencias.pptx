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71" r:id="rId6"/>
    <p:sldId id="272" r:id="rId7"/>
    <p:sldId id="264" r:id="rId8"/>
    <p:sldId id="265" r:id="rId9"/>
    <p:sldId id="267" r:id="rId10"/>
    <p:sldId id="273" r:id="rId11"/>
    <p:sldId id="266" r:id="rId12"/>
    <p:sldId id="274" r:id="rId13"/>
    <p:sldId id="275" r:id="rId14"/>
    <p:sldId id="268" r:id="rId1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1AD77B-C91D-5BDA-43E2-AE3815FF277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1E2FFA41-102C-A9E4-E3F9-40C4BBE28B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FA30480-C01B-A58B-2147-30737BE7F5B6}"/>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DA7787E6-EA25-D353-7447-7BB62B0D277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0D3184F-531F-9D59-20CB-F0A26C24362F}"/>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1472613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B97FC-0B27-4BB9-716F-CFC454FB4A6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4F325CE-AC3F-1D24-A2AA-7414C0A83FB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78B0F62-AFDF-B66E-6ABD-975A1700CB04}"/>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0F52A174-FA2E-365A-EDB5-653949358E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D256F61-D3B6-AEFB-C9B6-B545CCED55A2}"/>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1831589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3D36C4-5C70-8DB0-5399-D7DEE32154B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24CE761-9C21-AD9F-21D2-E692DFC17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276E2C-D7D9-0242-CB37-3D22C75D7FEC}"/>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2D1AADB7-9404-B534-9235-C3D16AC15A5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24AB86-710D-EDCE-E379-D5FA2C3CA9AD}"/>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3651117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EF48F0-A5FD-BAA5-B744-1C6998767B8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1433913-81F3-B79A-1AB6-760BB4CABC6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E5934C-C16E-767C-A713-F6C6DC2104C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D4A6433C-9CD8-29A7-B863-04E000EB4140}"/>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6" name="Marcador de pie de página 5">
            <a:extLst>
              <a:ext uri="{FF2B5EF4-FFF2-40B4-BE49-F238E27FC236}">
                <a16:creationId xmlns:a16="http://schemas.microsoft.com/office/drawing/2014/main" id="{819CB737-2173-3790-EED4-A2B24F14DF8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DA696A3-15AB-D47B-DC50-8C85A26D7BE6}"/>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1828204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3004D-907A-6260-1AA3-2C85985E071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C333FB7-214F-21A9-0DDC-58B54CE1AD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8C0B478-AD98-6621-7281-81EA075691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3E8DF85-5A0B-1029-0881-FDE382898F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3A7453C-0B2A-EE53-CC52-91A685FBC13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EA3F24F6-56A4-A52B-D470-6856E58D8688}"/>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8" name="Marcador de pie de página 7">
            <a:extLst>
              <a:ext uri="{FF2B5EF4-FFF2-40B4-BE49-F238E27FC236}">
                <a16:creationId xmlns:a16="http://schemas.microsoft.com/office/drawing/2014/main" id="{1CD18A64-5900-2300-B9E0-504813645AE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50C7F9B-0F97-5056-25FC-A15FEA967F0D}"/>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2994940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9338D-6B33-C78B-031C-8FFEB540A01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BF78F010-D61E-7ABA-287E-6536CE1383DD}"/>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4" name="Marcador de pie de página 3">
            <a:extLst>
              <a:ext uri="{FF2B5EF4-FFF2-40B4-BE49-F238E27FC236}">
                <a16:creationId xmlns:a16="http://schemas.microsoft.com/office/drawing/2014/main" id="{F28D91AB-A298-1DA4-25E6-7E31A878268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C2C4BDB-C22F-A5B7-9C5C-1B7F74408D57}"/>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1357549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A11616-33CD-CEB5-6A59-37A493CB24B3}"/>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3" name="Marcador de pie de página 2">
            <a:extLst>
              <a:ext uri="{FF2B5EF4-FFF2-40B4-BE49-F238E27FC236}">
                <a16:creationId xmlns:a16="http://schemas.microsoft.com/office/drawing/2014/main" id="{2D6E3B7E-EA8A-0F70-9BA6-26B4D3A5270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7B7978E-0372-014B-568F-0F3F77720B30}"/>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2630356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1245F5-1CA2-B2F0-F7A2-7E66CAF0BE4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03FCDFA-FD24-D129-1C00-0795853015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D5925DF-A5A1-B526-A4DF-E97BF85C9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61FC87-FF35-14F0-A858-53244C4B115B}"/>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6" name="Marcador de pie de página 5">
            <a:extLst>
              <a:ext uri="{FF2B5EF4-FFF2-40B4-BE49-F238E27FC236}">
                <a16:creationId xmlns:a16="http://schemas.microsoft.com/office/drawing/2014/main" id="{36A3A4A9-BCC9-B2FB-4399-F7722C93130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E808AD7-6023-A8E4-F988-D7621C200482}"/>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3619888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485215-ED75-A7DB-53B8-2A50204BC1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0974686-D576-7E9B-8F4E-B7B18E594B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5EDCA91-AE1B-7E0C-A1C6-5D13BBDB2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4217D52-2C0A-0F3F-FA63-04D9D9521447}"/>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6" name="Marcador de pie de página 5">
            <a:extLst>
              <a:ext uri="{FF2B5EF4-FFF2-40B4-BE49-F238E27FC236}">
                <a16:creationId xmlns:a16="http://schemas.microsoft.com/office/drawing/2014/main" id="{C633D162-F6DB-D857-433E-21E29204500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BC8CB87-1467-2F9D-086A-9818CD4C4455}"/>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2630042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3D1C0-17A9-803A-0F2E-51F277F2E8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B7AD011-F251-BE60-64E1-D5E0F2BD403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BD69351-CCD9-D4E7-AB9B-646C3A93703B}"/>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46B17FDC-F42A-57DC-1598-6AD442665A2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AEBB8A2-1C6A-65F9-8125-20C427EE56AC}"/>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413355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4284E9-8852-CF02-1CBC-7FFF5754024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DBD1CC0-87D9-C4D6-F0AD-543DAEAE8AF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EF2E7EA-4DD7-ABC5-96BD-F3C7F98D4439}"/>
              </a:ext>
            </a:extLst>
          </p:cNvPr>
          <p:cNvSpPr>
            <a:spLocks noGrp="1"/>
          </p:cNvSpPr>
          <p:nvPr>
            <p:ph type="dt" sz="half" idx="10"/>
          </p:nvPr>
        </p:nvSpPr>
        <p:spPr/>
        <p:txBody>
          <a:body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26C7404C-74F4-AF8C-E58C-2C0AE4F331D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359E587-1B75-626B-6331-7F74AA36C01C}"/>
              </a:ext>
            </a:extLst>
          </p:cNvPr>
          <p:cNvSpPr>
            <a:spLocks noGrp="1"/>
          </p:cNvSpPr>
          <p:nvPr>
            <p:ph type="sldNum" sz="quarter" idx="12"/>
          </p:nvPr>
        </p:nvSpPr>
        <p:spPr/>
        <p:txBody>
          <a:bodyPr/>
          <a:lstStyle/>
          <a:p>
            <a:fld id="{FC41C7D6-8930-4C0E-AC3D-75D339048506}" type="slidenum">
              <a:rPr lang="es-CO" smtClean="0"/>
              <a:t>‹Nº›</a:t>
            </a:fld>
            <a:endParaRPr lang="es-CO"/>
          </a:p>
        </p:txBody>
      </p:sp>
    </p:spTree>
    <p:extLst>
      <p:ext uri="{BB962C8B-B14F-4D97-AF65-F5344CB8AC3E}">
        <p14:creationId xmlns:p14="http://schemas.microsoft.com/office/powerpoint/2010/main" val="296971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C0B0486-E846-DA1D-71BB-2438A7B7C4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3A8B009-2834-EE14-F3F9-56FFC1C8EC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D68338-435D-4D90-0892-1FF31BE923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8F2558-E2EA-4CD7-8DA8-ABDEFCD0CAEC}" type="datetimeFigureOut">
              <a:rPr lang="es-CO" smtClean="0"/>
              <a:t>2/09/2026</a:t>
            </a:fld>
            <a:endParaRPr lang="es-CO"/>
          </a:p>
        </p:txBody>
      </p:sp>
      <p:sp>
        <p:nvSpPr>
          <p:cNvPr id="5" name="Marcador de pie de página 4">
            <a:extLst>
              <a:ext uri="{FF2B5EF4-FFF2-40B4-BE49-F238E27FC236}">
                <a16:creationId xmlns:a16="http://schemas.microsoft.com/office/drawing/2014/main" id="{B9B72EBE-6FEA-619F-97DA-6322EAE38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69BBA88-F55C-92E8-E8AC-1373B0049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41C7D6-8930-4C0E-AC3D-75D339048506}" type="slidenum">
              <a:rPr lang="es-CO" smtClean="0"/>
              <a:t>‹Nº›</a:t>
            </a:fld>
            <a:endParaRPr lang="es-CO"/>
          </a:p>
        </p:txBody>
      </p:sp>
    </p:spTree>
    <p:extLst>
      <p:ext uri="{BB962C8B-B14F-4D97-AF65-F5344CB8AC3E}">
        <p14:creationId xmlns:p14="http://schemas.microsoft.com/office/powerpoint/2010/main" val="1544183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ciencedirect.com/science/article/abs/pii/S2352801X23001030?via%3Dihu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822576-467F-65D7-DD4F-755DF106EB8C}"/>
              </a:ext>
            </a:extLst>
          </p:cNvPr>
          <p:cNvSpPr txBox="1"/>
          <p:nvPr/>
        </p:nvSpPr>
        <p:spPr>
          <a:xfrm>
            <a:off x="1062989" y="651510"/>
            <a:ext cx="10177439"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s-CO" sz="2400" b="1" dirty="0"/>
              <a:t>El ITA (Innovative Trend </a:t>
            </a:r>
            <a:r>
              <a:rPr lang="es-CO" sz="2400" b="1" dirty="0" err="1"/>
              <a:t>Analysis</a:t>
            </a:r>
            <a:r>
              <a:rPr lang="es-CO" sz="2400" b="1" dirty="0"/>
              <a:t> de Şen): </a:t>
            </a:r>
            <a:r>
              <a:rPr lang="es-CO" sz="2400" dirty="0"/>
              <a:t>Análisis gráfico de tendencias robusto. </a:t>
            </a:r>
          </a:p>
        </p:txBody>
      </p:sp>
      <p:sp>
        <p:nvSpPr>
          <p:cNvPr id="6" name="CuadroTexto 5">
            <a:extLst>
              <a:ext uri="{FF2B5EF4-FFF2-40B4-BE49-F238E27FC236}">
                <a16:creationId xmlns:a16="http://schemas.microsoft.com/office/drawing/2014/main" id="{A618E5AB-37C6-8277-830D-694109409C29}"/>
              </a:ext>
            </a:extLst>
          </p:cNvPr>
          <p:cNvSpPr txBox="1"/>
          <p:nvPr/>
        </p:nvSpPr>
        <p:spPr>
          <a:xfrm>
            <a:off x="1062989" y="1895594"/>
            <a:ext cx="8772386" cy="461665"/>
          </a:xfrm>
          <a:prstGeom prst="rect">
            <a:avLst/>
          </a:prstGeom>
          <a:noFill/>
        </p:spPr>
        <p:txBody>
          <a:bodyPr wrap="square">
            <a:spAutoFit/>
          </a:bodyPr>
          <a:lstStyle/>
          <a:p>
            <a:r>
              <a:rPr lang="es-CO" sz="2400" b="1" dirty="0"/>
              <a:t>Se plantea validación independiente de las tendencias</a:t>
            </a:r>
            <a:r>
              <a:rPr lang="es-CO" sz="2400" dirty="0"/>
              <a:t>.</a:t>
            </a:r>
          </a:p>
        </p:txBody>
      </p:sp>
      <p:sp>
        <p:nvSpPr>
          <p:cNvPr id="8" name="CuadroTexto 7">
            <a:extLst>
              <a:ext uri="{FF2B5EF4-FFF2-40B4-BE49-F238E27FC236}">
                <a16:creationId xmlns:a16="http://schemas.microsoft.com/office/drawing/2014/main" id="{CCE66BF6-AF6B-33FC-746A-FCD14615BB72}"/>
              </a:ext>
            </a:extLst>
          </p:cNvPr>
          <p:cNvSpPr txBox="1"/>
          <p:nvPr/>
        </p:nvSpPr>
        <p:spPr>
          <a:xfrm>
            <a:off x="685801" y="3316756"/>
            <a:ext cx="3920490" cy="1631216"/>
          </a:xfrm>
          <a:prstGeom prst="rect">
            <a:avLst/>
          </a:prstGeom>
          <a:noFill/>
          <a:ln>
            <a:solidFill>
              <a:schemeClr val="accent1"/>
            </a:solidFill>
          </a:ln>
        </p:spPr>
        <p:txBody>
          <a:bodyPr wrap="square">
            <a:spAutoFit/>
          </a:bodyPr>
          <a:lstStyle/>
          <a:p>
            <a:pPr algn="ctr"/>
            <a:r>
              <a:rPr lang="es-CO" sz="2000" dirty="0"/>
              <a:t>Pendiente OLS</a:t>
            </a:r>
          </a:p>
          <a:p>
            <a:pPr algn="ctr"/>
            <a:r>
              <a:rPr lang="es-CO" sz="2000" dirty="0"/>
              <a:t>        ↓</a:t>
            </a:r>
          </a:p>
          <a:p>
            <a:pPr algn="ctr"/>
            <a:r>
              <a:rPr lang="es-CO" sz="2000" dirty="0"/>
              <a:t>Mann-Kendall</a:t>
            </a:r>
          </a:p>
          <a:p>
            <a:pPr algn="ctr"/>
            <a:r>
              <a:rPr lang="es-CO" sz="2000" dirty="0"/>
              <a:t>        ↓</a:t>
            </a:r>
          </a:p>
          <a:p>
            <a:pPr algn="ctr"/>
            <a:r>
              <a:rPr lang="es-CO" sz="2000" b="1" dirty="0">
                <a:solidFill>
                  <a:srgbClr val="0070C0"/>
                </a:solidFill>
              </a:rPr>
              <a:t>Innovative Trend </a:t>
            </a:r>
            <a:r>
              <a:rPr lang="es-CO" sz="2000" b="1" dirty="0" err="1">
                <a:solidFill>
                  <a:srgbClr val="0070C0"/>
                </a:solidFill>
              </a:rPr>
              <a:t>Analysis</a:t>
            </a:r>
            <a:r>
              <a:rPr lang="es-CO" sz="2000" b="1" dirty="0">
                <a:solidFill>
                  <a:srgbClr val="0070C0"/>
                </a:solidFill>
              </a:rPr>
              <a:t> (ITA)</a:t>
            </a:r>
          </a:p>
        </p:txBody>
      </p:sp>
      <p:sp>
        <p:nvSpPr>
          <p:cNvPr id="10" name="CuadroTexto 9">
            <a:extLst>
              <a:ext uri="{FF2B5EF4-FFF2-40B4-BE49-F238E27FC236}">
                <a16:creationId xmlns:a16="http://schemas.microsoft.com/office/drawing/2014/main" id="{FED711C4-DEF9-5A2C-BBCA-78AFC245B148}"/>
              </a:ext>
            </a:extLst>
          </p:cNvPr>
          <p:cNvSpPr txBox="1"/>
          <p:nvPr/>
        </p:nvSpPr>
        <p:spPr>
          <a:xfrm>
            <a:off x="5051502" y="2770346"/>
            <a:ext cx="6547090" cy="3477875"/>
          </a:xfrm>
          <a:prstGeom prst="rect">
            <a:avLst/>
          </a:prstGeom>
          <a:noFill/>
        </p:spPr>
        <p:txBody>
          <a:bodyPr wrap="square">
            <a:spAutoFit/>
          </a:bodyPr>
          <a:lstStyle/>
          <a:p>
            <a:pPr>
              <a:buNone/>
            </a:pPr>
            <a:r>
              <a:rPr lang="es-CO" sz="2000" b="1" dirty="0" err="1"/>
              <a:t>Compración</a:t>
            </a:r>
            <a:r>
              <a:rPr lang="es-CO" sz="2000" b="1"/>
              <a:t> y aporte </a:t>
            </a:r>
            <a:r>
              <a:rPr lang="es-CO" sz="2000" b="1" dirty="0"/>
              <a:t>del ITA a la validación del análisis de datos de los 17 pozos y los índices ISAC y IMCP.</a:t>
            </a:r>
          </a:p>
          <a:p>
            <a:pPr>
              <a:buNone/>
            </a:pPr>
            <a:r>
              <a:rPr lang="es-CO" sz="2000" dirty="0"/>
              <a:t>ITA tiene varias ventajas sobre una regresión lineal.</a:t>
            </a:r>
          </a:p>
          <a:p>
            <a:pPr>
              <a:buNone/>
            </a:pPr>
            <a:r>
              <a:rPr lang="es-CO" sz="2000" dirty="0"/>
              <a:t>Por ejemplo:</a:t>
            </a:r>
          </a:p>
          <a:p>
            <a:pPr>
              <a:buNone/>
            </a:pPr>
            <a:r>
              <a:rPr lang="es-CO" sz="2000" dirty="0"/>
              <a:t>No necesita</a:t>
            </a:r>
          </a:p>
          <a:p>
            <a:pPr>
              <a:buFont typeface="Arial" panose="020B0604020202020204" pitchFamily="34" charset="0"/>
              <a:buChar char="•"/>
            </a:pPr>
            <a:r>
              <a:rPr lang="es-CO" sz="2000" dirty="0"/>
              <a:t>normalidad </a:t>
            </a:r>
          </a:p>
          <a:p>
            <a:pPr>
              <a:buFont typeface="Arial" panose="020B0604020202020204" pitchFamily="34" charset="0"/>
              <a:buChar char="•"/>
            </a:pPr>
            <a:r>
              <a:rPr lang="es-CO" sz="2000" dirty="0"/>
              <a:t>independencia </a:t>
            </a:r>
          </a:p>
          <a:p>
            <a:pPr>
              <a:buFont typeface="Arial" panose="020B0604020202020204" pitchFamily="34" charset="0"/>
              <a:buChar char="•"/>
            </a:pPr>
            <a:r>
              <a:rPr lang="es-CO" sz="2000" dirty="0"/>
              <a:t>distribución conocida </a:t>
            </a:r>
          </a:p>
          <a:p>
            <a:pPr>
              <a:buFont typeface="Arial" panose="020B0604020202020204" pitchFamily="34" charset="0"/>
              <a:buChar char="•"/>
            </a:pPr>
            <a:r>
              <a:rPr lang="es-CO" sz="2000" dirty="0"/>
              <a:t>linealidad estricta </a:t>
            </a:r>
          </a:p>
          <a:p>
            <a:pPr>
              <a:buNone/>
            </a:pPr>
            <a:r>
              <a:rPr lang="es-CO" sz="2000" b="1" dirty="0">
                <a:solidFill>
                  <a:srgbClr val="0070C0"/>
                </a:solidFill>
              </a:rPr>
              <a:t>Eso es precisamente el problema de los niveles piezométricos</a:t>
            </a:r>
            <a:r>
              <a:rPr lang="es-CO" sz="2000" dirty="0"/>
              <a:t>.</a:t>
            </a:r>
          </a:p>
        </p:txBody>
      </p:sp>
    </p:spTree>
    <p:extLst>
      <p:ext uri="{BB962C8B-B14F-4D97-AF65-F5344CB8AC3E}">
        <p14:creationId xmlns:p14="http://schemas.microsoft.com/office/powerpoint/2010/main" val="1391217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99F93D0-06B7-7C65-68CB-1490ABBA0C2D}"/>
              </a:ext>
            </a:extLst>
          </p:cNvPr>
          <p:cNvSpPr txBox="1"/>
          <p:nvPr/>
        </p:nvSpPr>
        <p:spPr>
          <a:xfrm>
            <a:off x="625792" y="654457"/>
            <a:ext cx="8472487" cy="2677656"/>
          </a:xfrm>
          <a:prstGeom prst="rect">
            <a:avLst/>
          </a:prstGeom>
          <a:noFill/>
        </p:spPr>
        <p:txBody>
          <a:bodyPr wrap="square">
            <a:spAutoFit/>
          </a:bodyPr>
          <a:lstStyle/>
          <a:p>
            <a:pPr>
              <a:buNone/>
            </a:pPr>
            <a:r>
              <a:rPr lang="es-CO" sz="2400" b="1" dirty="0">
                <a:solidFill>
                  <a:srgbClr val="FF0000"/>
                </a:solidFill>
              </a:rPr>
              <a:t>ITA permite identificar</a:t>
            </a:r>
          </a:p>
          <a:p>
            <a:pPr>
              <a:buFont typeface="Arial" panose="020B0604020202020204" pitchFamily="34" charset="0"/>
              <a:buChar char="•"/>
            </a:pPr>
            <a:r>
              <a:rPr lang="es-CO" sz="2400" dirty="0"/>
              <a:t>tendencia creciente </a:t>
            </a:r>
          </a:p>
          <a:p>
            <a:pPr>
              <a:buFont typeface="Arial" panose="020B0604020202020204" pitchFamily="34" charset="0"/>
              <a:buChar char="•"/>
            </a:pPr>
            <a:r>
              <a:rPr lang="es-CO" sz="2400" dirty="0"/>
              <a:t>tendencia decreciente </a:t>
            </a:r>
          </a:p>
          <a:p>
            <a:pPr>
              <a:buFont typeface="Arial" panose="020B0604020202020204" pitchFamily="34" charset="0"/>
              <a:buChar char="•"/>
            </a:pPr>
            <a:r>
              <a:rPr lang="es-CO" sz="2400" dirty="0"/>
              <a:t>estabilidad del comportamiento de pozos</a:t>
            </a:r>
          </a:p>
          <a:p>
            <a:pPr>
              <a:buFont typeface="Arial" panose="020B0604020202020204" pitchFamily="34" charset="0"/>
              <a:buChar char="•"/>
            </a:pPr>
            <a:r>
              <a:rPr lang="es-CO" sz="2400" dirty="0"/>
              <a:t>Análisis de la </a:t>
            </a:r>
            <a:r>
              <a:rPr lang="es-CO" sz="2400" dirty="0" err="1"/>
              <a:t>iteracción</a:t>
            </a:r>
            <a:r>
              <a:rPr lang="es-CO" sz="2400" dirty="0"/>
              <a:t> cambios diferentes </a:t>
            </a:r>
          </a:p>
          <a:p>
            <a:r>
              <a:rPr lang="es-CO" sz="2400" dirty="0"/>
              <a:t>entre valores bajos y altos </a:t>
            </a:r>
          </a:p>
          <a:p>
            <a:pPr>
              <a:buNone/>
            </a:pPr>
            <a:endParaRPr lang="es-CO" sz="2400" dirty="0"/>
          </a:p>
        </p:txBody>
      </p:sp>
      <p:sp>
        <p:nvSpPr>
          <p:cNvPr id="7" name="CuadroTexto 6">
            <a:extLst>
              <a:ext uri="{FF2B5EF4-FFF2-40B4-BE49-F238E27FC236}">
                <a16:creationId xmlns:a16="http://schemas.microsoft.com/office/drawing/2014/main" id="{DC5636DC-4D66-FA2F-C0EC-5E91123F8493}"/>
              </a:ext>
            </a:extLst>
          </p:cNvPr>
          <p:cNvSpPr txBox="1"/>
          <p:nvPr/>
        </p:nvSpPr>
        <p:spPr>
          <a:xfrm>
            <a:off x="717233" y="3513296"/>
            <a:ext cx="6097904" cy="2308324"/>
          </a:xfrm>
          <a:prstGeom prst="rect">
            <a:avLst/>
          </a:prstGeom>
          <a:noFill/>
        </p:spPr>
        <p:txBody>
          <a:bodyPr wrap="square">
            <a:spAutoFit/>
          </a:bodyPr>
          <a:lstStyle/>
          <a:p>
            <a:pPr>
              <a:buNone/>
            </a:pPr>
            <a:r>
              <a:rPr lang="es-CO" sz="2400" b="1" dirty="0">
                <a:solidFill>
                  <a:srgbClr val="FF0000"/>
                </a:solidFill>
              </a:rPr>
              <a:t>Fuente: </a:t>
            </a:r>
            <a:r>
              <a:rPr lang="es-CO" sz="2400" b="1" dirty="0">
                <a:solidFill>
                  <a:srgbClr val="0070C0"/>
                </a:solidFill>
              </a:rPr>
              <a:t>Este análisis se fundamenta en el artículo (Ghosh, A., 2023)</a:t>
            </a:r>
            <a:endParaRPr lang="es-CO" sz="2400" b="1" dirty="0">
              <a:solidFill>
                <a:srgbClr val="FF0000"/>
              </a:solidFill>
            </a:endParaRPr>
          </a:p>
          <a:p>
            <a:r>
              <a:rPr lang="es-CO" sz="2400" dirty="0"/>
              <a:t>Y se utilizó para:</a:t>
            </a:r>
          </a:p>
          <a:p>
            <a:pPr>
              <a:buFont typeface="Arial" panose="020B0604020202020204" pitchFamily="34" charset="0"/>
              <a:buChar char="•"/>
            </a:pPr>
            <a:r>
              <a:rPr lang="es-CO" sz="2400" dirty="0"/>
              <a:t>analizar niveles freáticos </a:t>
            </a:r>
          </a:p>
          <a:p>
            <a:pPr>
              <a:buFont typeface="Arial" panose="020B0604020202020204" pitchFamily="34" charset="0"/>
              <a:buChar char="•"/>
            </a:pPr>
            <a:r>
              <a:rPr lang="es-CO" sz="2400" dirty="0"/>
              <a:t>compararlos con GRACE </a:t>
            </a:r>
          </a:p>
          <a:p>
            <a:pPr>
              <a:buFont typeface="Arial" panose="020B0604020202020204" pitchFamily="34" charset="0"/>
              <a:buChar char="•"/>
            </a:pPr>
            <a:r>
              <a:rPr lang="es-CO" sz="2400" dirty="0"/>
              <a:t>analizar almacenamiento </a:t>
            </a:r>
          </a:p>
        </p:txBody>
      </p:sp>
      <p:pic>
        <p:nvPicPr>
          <p:cNvPr id="3" name="Imagen 2">
            <a:extLst>
              <a:ext uri="{FF2B5EF4-FFF2-40B4-BE49-F238E27FC236}">
                <a16:creationId xmlns:a16="http://schemas.microsoft.com/office/drawing/2014/main" id="{EB1AF4F1-6FF0-985D-EFDA-680D88318309}"/>
              </a:ext>
            </a:extLst>
          </p:cNvPr>
          <p:cNvPicPr>
            <a:picLocks noChangeAspect="1"/>
          </p:cNvPicPr>
          <p:nvPr/>
        </p:nvPicPr>
        <p:blipFill>
          <a:blip r:embed="rId2"/>
          <a:stretch>
            <a:fillRect/>
          </a:stretch>
        </p:blipFill>
        <p:spPr>
          <a:xfrm>
            <a:off x="6878983" y="765969"/>
            <a:ext cx="5195930" cy="5294719"/>
          </a:xfrm>
          <a:prstGeom prst="rect">
            <a:avLst/>
          </a:prstGeom>
        </p:spPr>
      </p:pic>
    </p:spTree>
    <p:extLst>
      <p:ext uri="{BB962C8B-B14F-4D97-AF65-F5344CB8AC3E}">
        <p14:creationId xmlns:p14="http://schemas.microsoft.com/office/powerpoint/2010/main" val="79593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E970CEF-67BE-022D-D31D-BBBF367C3F98}"/>
              </a:ext>
            </a:extLst>
          </p:cNvPr>
          <p:cNvSpPr txBox="1"/>
          <p:nvPr/>
        </p:nvSpPr>
        <p:spPr>
          <a:xfrm>
            <a:off x="591503" y="1201036"/>
            <a:ext cx="4494847" cy="1569660"/>
          </a:xfrm>
          <a:prstGeom prst="rect">
            <a:avLst/>
          </a:prstGeom>
          <a:noFill/>
        </p:spPr>
        <p:txBody>
          <a:bodyPr wrap="square">
            <a:spAutoFit/>
          </a:bodyPr>
          <a:lstStyle/>
          <a:p>
            <a:pPr>
              <a:buNone/>
            </a:pPr>
            <a:r>
              <a:rPr lang="es-CO" sz="2400" b="1" dirty="0">
                <a:solidFill>
                  <a:srgbClr val="FF0000"/>
                </a:solidFill>
              </a:rPr>
              <a:t>Figura 1</a:t>
            </a:r>
          </a:p>
          <a:p>
            <a:pPr>
              <a:buNone/>
            </a:pPr>
            <a:r>
              <a:rPr lang="es-CO" sz="2400" dirty="0"/>
              <a:t>ITA de los 17 pozos</a:t>
            </a:r>
          </a:p>
          <a:p>
            <a:pPr>
              <a:buNone/>
            </a:pPr>
            <a:r>
              <a:rPr lang="es-CO" sz="2400" dirty="0"/>
              <a:t>cada uno en un panel.</a:t>
            </a:r>
          </a:p>
          <a:p>
            <a:pPr>
              <a:buNone/>
            </a:pPr>
            <a:r>
              <a:rPr lang="es-CO" sz="2400" dirty="0"/>
              <a:t>Como hicieron en el artículo.</a:t>
            </a:r>
          </a:p>
        </p:txBody>
      </p:sp>
      <p:sp>
        <p:nvSpPr>
          <p:cNvPr id="7" name="CuadroTexto 6">
            <a:extLst>
              <a:ext uri="{FF2B5EF4-FFF2-40B4-BE49-F238E27FC236}">
                <a16:creationId xmlns:a16="http://schemas.microsoft.com/office/drawing/2014/main" id="{C8E5BC6D-93D2-87CC-324F-BC2086E9F4A9}"/>
              </a:ext>
            </a:extLst>
          </p:cNvPr>
          <p:cNvSpPr txBox="1"/>
          <p:nvPr/>
        </p:nvSpPr>
        <p:spPr>
          <a:xfrm>
            <a:off x="6468196" y="1201036"/>
            <a:ext cx="3877627" cy="1569660"/>
          </a:xfrm>
          <a:prstGeom prst="rect">
            <a:avLst/>
          </a:prstGeom>
          <a:noFill/>
        </p:spPr>
        <p:txBody>
          <a:bodyPr wrap="square">
            <a:spAutoFit/>
          </a:bodyPr>
          <a:lstStyle/>
          <a:p>
            <a:pPr>
              <a:buNone/>
            </a:pPr>
            <a:r>
              <a:rPr lang="es-CO" sz="2400" b="1" dirty="0">
                <a:solidFill>
                  <a:srgbClr val="FF0000"/>
                </a:solidFill>
              </a:rPr>
              <a:t>Figura 2</a:t>
            </a:r>
          </a:p>
          <a:p>
            <a:pPr>
              <a:buNone/>
            </a:pPr>
            <a:r>
              <a:rPr lang="es-CO" sz="2400" dirty="0"/>
              <a:t>Comparar</a:t>
            </a:r>
          </a:p>
          <a:p>
            <a:pPr>
              <a:buNone/>
            </a:pPr>
            <a:r>
              <a:rPr lang="es-CO" sz="2400" dirty="0"/>
              <a:t>ITA vs Pendiente OLS vs Cluster</a:t>
            </a:r>
          </a:p>
        </p:txBody>
      </p:sp>
      <p:graphicFrame>
        <p:nvGraphicFramePr>
          <p:cNvPr id="8" name="Tabla 7">
            <a:extLst>
              <a:ext uri="{FF2B5EF4-FFF2-40B4-BE49-F238E27FC236}">
                <a16:creationId xmlns:a16="http://schemas.microsoft.com/office/drawing/2014/main" id="{FD0B9249-EE18-4F57-0A93-92CF4464C94D}"/>
              </a:ext>
            </a:extLst>
          </p:cNvPr>
          <p:cNvGraphicFramePr>
            <a:graphicFrameLocks noGrp="1"/>
          </p:cNvGraphicFramePr>
          <p:nvPr>
            <p:extLst>
              <p:ext uri="{D42A27DB-BD31-4B8C-83A1-F6EECF244321}">
                <p14:modId xmlns:p14="http://schemas.microsoft.com/office/powerpoint/2010/main" val="547941749"/>
              </p:ext>
            </p:extLst>
          </p:nvPr>
        </p:nvGraphicFramePr>
        <p:xfrm>
          <a:off x="838200" y="3269774"/>
          <a:ext cx="10515600" cy="1828800"/>
        </p:xfrm>
        <a:graphic>
          <a:graphicData uri="http://schemas.openxmlformats.org/drawingml/2006/table">
            <a:tbl>
              <a:tblPr>
                <a:tableStyleId>{69C7853C-536D-4A76-A0AE-DD22124D55A5}</a:tableStyleId>
              </a:tblPr>
              <a:tblGrid>
                <a:gridCol w="2628900">
                  <a:extLst>
                    <a:ext uri="{9D8B030D-6E8A-4147-A177-3AD203B41FA5}">
                      <a16:colId xmlns:a16="http://schemas.microsoft.com/office/drawing/2014/main" val="574708543"/>
                    </a:ext>
                  </a:extLst>
                </a:gridCol>
                <a:gridCol w="2628900">
                  <a:extLst>
                    <a:ext uri="{9D8B030D-6E8A-4147-A177-3AD203B41FA5}">
                      <a16:colId xmlns:a16="http://schemas.microsoft.com/office/drawing/2014/main" val="93593917"/>
                    </a:ext>
                  </a:extLst>
                </a:gridCol>
                <a:gridCol w="2628900">
                  <a:extLst>
                    <a:ext uri="{9D8B030D-6E8A-4147-A177-3AD203B41FA5}">
                      <a16:colId xmlns:a16="http://schemas.microsoft.com/office/drawing/2014/main" val="1653685824"/>
                    </a:ext>
                  </a:extLst>
                </a:gridCol>
                <a:gridCol w="2628900">
                  <a:extLst>
                    <a:ext uri="{9D8B030D-6E8A-4147-A177-3AD203B41FA5}">
                      <a16:colId xmlns:a16="http://schemas.microsoft.com/office/drawing/2014/main" val="2836312428"/>
                    </a:ext>
                  </a:extLst>
                </a:gridCol>
              </a:tblGrid>
              <a:tr h="0">
                <a:tc>
                  <a:txBody>
                    <a:bodyPr/>
                    <a:lstStyle/>
                    <a:p>
                      <a:pPr algn="ctr">
                        <a:buNone/>
                      </a:pPr>
                      <a:r>
                        <a:rPr lang="es-CO" sz="2400" b="1" dirty="0">
                          <a:solidFill>
                            <a:schemeClr val="bg1"/>
                          </a:solidFill>
                        </a:rPr>
                        <a:t>Pozo</a:t>
                      </a:r>
                    </a:p>
                  </a:txBody>
                  <a:tcPr anchor="ctr"/>
                </a:tc>
                <a:tc>
                  <a:txBody>
                    <a:bodyPr/>
                    <a:lstStyle/>
                    <a:p>
                      <a:pPr algn="ctr">
                        <a:buNone/>
                      </a:pPr>
                      <a:r>
                        <a:rPr lang="es-CO" sz="2400" b="1" dirty="0">
                          <a:solidFill>
                            <a:schemeClr val="bg1"/>
                          </a:solidFill>
                        </a:rPr>
                        <a:t>OLS</a:t>
                      </a:r>
                    </a:p>
                  </a:txBody>
                  <a:tcPr anchor="ctr"/>
                </a:tc>
                <a:tc>
                  <a:txBody>
                    <a:bodyPr/>
                    <a:lstStyle/>
                    <a:p>
                      <a:pPr algn="ctr">
                        <a:buNone/>
                      </a:pPr>
                      <a:r>
                        <a:rPr lang="es-CO" sz="2400" b="1" dirty="0">
                          <a:solidFill>
                            <a:schemeClr val="bg1"/>
                          </a:solidFill>
                        </a:rPr>
                        <a:t>ITA</a:t>
                      </a:r>
                    </a:p>
                  </a:txBody>
                  <a:tcPr anchor="ctr"/>
                </a:tc>
                <a:tc>
                  <a:txBody>
                    <a:bodyPr/>
                    <a:lstStyle/>
                    <a:p>
                      <a:pPr algn="ctr">
                        <a:buNone/>
                      </a:pPr>
                      <a:r>
                        <a:rPr lang="es-CO" sz="2400" b="1" dirty="0">
                          <a:solidFill>
                            <a:schemeClr val="bg1"/>
                          </a:solidFill>
                        </a:rPr>
                        <a:t>Cluster</a:t>
                      </a:r>
                    </a:p>
                  </a:txBody>
                  <a:tcPr anchor="ctr"/>
                </a:tc>
                <a:extLst>
                  <a:ext uri="{0D108BD9-81ED-4DB2-BD59-A6C34878D82A}">
                    <a16:rowId xmlns:a16="http://schemas.microsoft.com/office/drawing/2014/main" val="979993369"/>
                  </a:ext>
                </a:extLst>
              </a:tr>
              <a:tr h="0">
                <a:tc>
                  <a:txBody>
                    <a:bodyPr/>
                    <a:lstStyle/>
                    <a:p>
                      <a:pPr>
                        <a:buNone/>
                      </a:pPr>
                      <a:r>
                        <a:rPr lang="es-CO" sz="2400" dirty="0"/>
                        <a:t>Sampués</a:t>
                      </a:r>
                    </a:p>
                  </a:txBody>
                  <a:tcPr anchor="ctr"/>
                </a:tc>
                <a:tc>
                  <a:txBody>
                    <a:bodyPr/>
                    <a:lstStyle/>
                    <a:p>
                      <a:pPr algn="ctr">
                        <a:buNone/>
                      </a:pPr>
                      <a:r>
                        <a:rPr lang="es-CO" sz="2400" dirty="0"/>
                        <a:t>↓</a:t>
                      </a:r>
                    </a:p>
                  </a:txBody>
                  <a:tcPr anchor="ctr"/>
                </a:tc>
                <a:tc>
                  <a:txBody>
                    <a:bodyPr/>
                    <a:lstStyle/>
                    <a:p>
                      <a:pPr algn="ctr">
                        <a:buNone/>
                      </a:pPr>
                      <a:r>
                        <a:rPr lang="es-CO" sz="2400"/>
                        <a:t>↓</a:t>
                      </a:r>
                    </a:p>
                  </a:txBody>
                  <a:tcPr anchor="ctr"/>
                </a:tc>
                <a:tc>
                  <a:txBody>
                    <a:bodyPr/>
                    <a:lstStyle/>
                    <a:p>
                      <a:pPr algn="ctr">
                        <a:buNone/>
                      </a:pPr>
                      <a:r>
                        <a:rPr lang="es-CO" sz="2400"/>
                        <a:t>C1</a:t>
                      </a:r>
                    </a:p>
                  </a:txBody>
                  <a:tcPr anchor="ctr"/>
                </a:tc>
                <a:extLst>
                  <a:ext uri="{0D108BD9-81ED-4DB2-BD59-A6C34878D82A}">
                    <a16:rowId xmlns:a16="http://schemas.microsoft.com/office/drawing/2014/main" val="3808939943"/>
                  </a:ext>
                </a:extLst>
              </a:tr>
              <a:tr h="0">
                <a:tc>
                  <a:txBody>
                    <a:bodyPr/>
                    <a:lstStyle/>
                    <a:p>
                      <a:pPr>
                        <a:buNone/>
                      </a:pPr>
                      <a:r>
                        <a:rPr lang="es-CO" sz="2400" b="1" dirty="0">
                          <a:solidFill>
                            <a:schemeClr val="accent3">
                              <a:lumMod val="75000"/>
                            </a:schemeClr>
                          </a:solidFill>
                        </a:rPr>
                        <a:t>Ovejas</a:t>
                      </a:r>
                    </a:p>
                  </a:txBody>
                  <a:tcPr anchor="ctr"/>
                </a:tc>
                <a:tc>
                  <a:txBody>
                    <a:bodyPr/>
                    <a:lstStyle/>
                    <a:p>
                      <a:pPr algn="ctr">
                        <a:buNone/>
                      </a:pPr>
                      <a:r>
                        <a:rPr lang="es-CO" sz="2400" b="1" dirty="0">
                          <a:solidFill>
                            <a:schemeClr val="accent3">
                              <a:lumMod val="75000"/>
                            </a:schemeClr>
                          </a:solidFill>
                        </a:rPr>
                        <a:t>→</a:t>
                      </a:r>
                    </a:p>
                  </a:txBody>
                  <a:tcPr anchor="ctr"/>
                </a:tc>
                <a:tc>
                  <a:txBody>
                    <a:bodyPr/>
                    <a:lstStyle/>
                    <a:p>
                      <a:pPr algn="ctr">
                        <a:buNone/>
                      </a:pPr>
                      <a:r>
                        <a:rPr lang="es-CO" sz="2400" b="1" dirty="0">
                          <a:solidFill>
                            <a:schemeClr val="accent3">
                              <a:lumMod val="75000"/>
                            </a:schemeClr>
                          </a:solidFill>
                        </a:rPr>
                        <a:t>→</a:t>
                      </a:r>
                    </a:p>
                  </a:txBody>
                  <a:tcPr anchor="ctr"/>
                </a:tc>
                <a:tc>
                  <a:txBody>
                    <a:bodyPr/>
                    <a:lstStyle/>
                    <a:p>
                      <a:pPr algn="ctr">
                        <a:buNone/>
                      </a:pPr>
                      <a:r>
                        <a:rPr lang="es-CO" sz="2400" b="1" dirty="0">
                          <a:solidFill>
                            <a:schemeClr val="accent3">
                              <a:lumMod val="75000"/>
                            </a:schemeClr>
                          </a:solidFill>
                        </a:rPr>
                        <a:t>C2</a:t>
                      </a:r>
                    </a:p>
                  </a:txBody>
                  <a:tcPr anchor="ctr"/>
                </a:tc>
                <a:extLst>
                  <a:ext uri="{0D108BD9-81ED-4DB2-BD59-A6C34878D82A}">
                    <a16:rowId xmlns:a16="http://schemas.microsoft.com/office/drawing/2014/main" val="605319457"/>
                  </a:ext>
                </a:extLst>
              </a:tr>
              <a:tr h="0">
                <a:tc>
                  <a:txBody>
                    <a:bodyPr/>
                    <a:lstStyle/>
                    <a:p>
                      <a:pPr>
                        <a:buNone/>
                      </a:pPr>
                      <a:r>
                        <a:rPr lang="es-CO" sz="2400"/>
                        <a:t>Corozal</a:t>
                      </a:r>
                    </a:p>
                  </a:txBody>
                  <a:tcPr anchor="ctr"/>
                </a:tc>
                <a:tc>
                  <a:txBody>
                    <a:bodyPr/>
                    <a:lstStyle/>
                    <a:p>
                      <a:pPr algn="ctr">
                        <a:buNone/>
                      </a:pPr>
                      <a:r>
                        <a:rPr lang="es-CO" sz="2400"/>
                        <a:t>↓↓↓</a:t>
                      </a:r>
                    </a:p>
                  </a:txBody>
                  <a:tcPr anchor="ctr"/>
                </a:tc>
                <a:tc>
                  <a:txBody>
                    <a:bodyPr/>
                    <a:lstStyle/>
                    <a:p>
                      <a:pPr algn="ctr">
                        <a:buNone/>
                      </a:pPr>
                      <a:r>
                        <a:rPr lang="es-CO" sz="2400" dirty="0"/>
                        <a:t>↓↓↓</a:t>
                      </a:r>
                    </a:p>
                  </a:txBody>
                  <a:tcPr anchor="ctr"/>
                </a:tc>
                <a:tc>
                  <a:txBody>
                    <a:bodyPr/>
                    <a:lstStyle/>
                    <a:p>
                      <a:pPr algn="ctr">
                        <a:buNone/>
                      </a:pPr>
                      <a:r>
                        <a:rPr lang="es-CO" sz="2400" dirty="0"/>
                        <a:t>C3</a:t>
                      </a:r>
                    </a:p>
                  </a:txBody>
                  <a:tcPr anchor="ctr"/>
                </a:tc>
                <a:extLst>
                  <a:ext uri="{0D108BD9-81ED-4DB2-BD59-A6C34878D82A}">
                    <a16:rowId xmlns:a16="http://schemas.microsoft.com/office/drawing/2014/main" val="2117111558"/>
                  </a:ext>
                </a:extLst>
              </a:tr>
            </a:tbl>
          </a:graphicData>
        </a:graphic>
      </p:graphicFrame>
      <p:sp>
        <p:nvSpPr>
          <p:cNvPr id="2" name="CuadroTexto 1">
            <a:extLst>
              <a:ext uri="{FF2B5EF4-FFF2-40B4-BE49-F238E27FC236}">
                <a16:creationId xmlns:a16="http://schemas.microsoft.com/office/drawing/2014/main" id="{BD2A2DF0-2E01-0467-09EC-42EE0534EF2E}"/>
              </a:ext>
            </a:extLst>
          </p:cNvPr>
          <p:cNvSpPr txBox="1"/>
          <p:nvPr/>
        </p:nvSpPr>
        <p:spPr>
          <a:xfrm>
            <a:off x="591503" y="423145"/>
            <a:ext cx="9403706" cy="461665"/>
          </a:xfrm>
          <a:prstGeom prst="rect">
            <a:avLst/>
          </a:prstGeom>
          <a:noFill/>
        </p:spPr>
        <p:txBody>
          <a:bodyPr wrap="square">
            <a:spAutoFit/>
          </a:bodyPr>
          <a:lstStyle/>
          <a:p>
            <a:pPr>
              <a:buNone/>
            </a:pPr>
            <a:r>
              <a:rPr lang="es-CO" sz="2400" b="1" dirty="0"/>
              <a:t>El análisis de tendencias genera la siguiente figura:</a:t>
            </a:r>
          </a:p>
        </p:txBody>
      </p:sp>
    </p:spTree>
    <p:extLst>
      <p:ext uri="{BB962C8B-B14F-4D97-AF65-F5344CB8AC3E}">
        <p14:creationId xmlns:p14="http://schemas.microsoft.com/office/powerpoint/2010/main" val="3368722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3895F99-630C-E7CC-9085-DAC237031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7792" y="0"/>
            <a:ext cx="6956904" cy="6858000"/>
          </a:xfrm>
          <a:prstGeom prst="rect">
            <a:avLst/>
          </a:prstGeom>
        </p:spPr>
      </p:pic>
      <p:sp>
        <p:nvSpPr>
          <p:cNvPr id="6" name="CuadroTexto 5">
            <a:extLst>
              <a:ext uri="{FF2B5EF4-FFF2-40B4-BE49-F238E27FC236}">
                <a16:creationId xmlns:a16="http://schemas.microsoft.com/office/drawing/2014/main" id="{2B7985DF-A275-0465-2B26-98AEA74D8660}"/>
              </a:ext>
            </a:extLst>
          </p:cNvPr>
          <p:cNvSpPr txBox="1"/>
          <p:nvPr/>
        </p:nvSpPr>
        <p:spPr>
          <a:xfrm>
            <a:off x="843603" y="753356"/>
            <a:ext cx="3395546" cy="369331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s-CO" dirty="0"/>
              <a:t>Todos los pozos tienen ubicados los valores medios del nivel estático por </a:t>
            </a:r>
            <a:r>
              <a:rPr lang="es-CO" b="1" dirty="0">
                <a:solidFill>
                  <a:schemeClr val="accent2"/>
                </a:solidFill>
              </a:rPr>
              <a:t>encima dela recta 1:1</a:t>
            </a:r>
            <a:r>
              <a:rPr lang="es-CO" dirty="0"/>
              <a:t> (pendiente de 45°) que identifica el comportamiento de los pozos. Este comportamiento es </a:t>
            </a:r>
            <a:r>
              <a:rPr lang="es-CO" b="1" dirty="0">
                <a:solidFill>
                  <a:schemeClr val="accent2"/>
                </a:solidFill>
              </a:rPr>
              <a:t>común en todos los pozos con excepción del pozo de Ovejas</a:t>
            </a:r>
            <a:r>
              <a:rPr lang="es-CO" dirty="0"/>
              <a:t>. Lo que </a:t>
            </a:r>
            <a:r>
              <a:rPr lang="es-CO" b="1" dirty="0"/>
              <a:t>corrobora los resultados obtenidos </a:t>
            </a:r>
            <a:r>
              <a:rPr lang="es-CO" dirty="0"/>
              <a:t>por los gráficos de comportamiento, os análisis de clústeres y los índices ISAC e IMCP.</a:t>
            </a:r>
          </a:p>
        </p:txBody>
      </p:sp>
      <p:sp>
        <p:nvSpPr>
          <p:cNvPr id="7" name="Elipse 6">
            <a:extLst>
              <a:ext uri="{FF2B5EF4-FFF2-40B4-BE49-F238E27FC236}">
                <a16:creationId xmlns:a16="http://schemas.microsoft.com/office/drawing/2014/main" id="{51A6B44A-1817-5A0B-B068-1993AE3171C3}"/>
              </a:ext>
            </a:extLst>
          </p:cNvPr>
          <p:cNvSpPr/>
          <p:nvPr/>
        </p:nvSpPr>
        <p:spPr>
          <a:xfrm>
            <a:off x="9077013" y="946205"/>
            <a:ext cx="1123784" cy="893197"/>
          </a:xfrm>
          <a:prstGeom prst="ellipse">
            <a:avLst/>
          </a:prstGeom>
          <a:noFill/>
          <a:ln>
            <a:solidFill>
              <a:schemeClr val="accent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de flecha 8">
            <a:extLst>
              <a:ext uri="{FF2B5EF4-FFF2-40B4-BE49-F238E27FC236}">
                <a16:creationId xmlns:a16="http://schemas.microsoft.com/office/drawing/2014/main" id="{67DC1C5E-EF2B-BA29-D071-909C3239937D}"/>
              </a:ext>
            </a:extLst>
          </p:cNvPr>
          <p:cNvCxnSpPr/>
          <p:nvPr/>
        </p:nvCxnSpPr>
        <p:spPr>
          <a:xfrm flipV="1">
            <a:off x="3918098" y="1637414"/>
            <a:ext cx="5158915" cy="3822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CuadroTexto 9">
            <a:extLst>
              <a:ext uri="{FF2B5EF4-FFF2-40B4-BE49-F238E27FC236}">
                <a16:creationId xmlns:a16="http://schemas.microsoft.com/office/drawing/2014/main" id="{9FAFFAE3-C2ED-82C7-F550-1CE279050609}"/>
              </a:ext>
            </a:extLst>
          </p:cNvPr>
          <p:cNvSpPr txBox="1"/>
          <p:nvPr/>
        </p:nvSpPr>
        <p:spPr>
          <a:xfrm>
            <a:off x="909084" y="4998154"/>
            <a:ext cx="300901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CO" dirty="0"/>
              <a:t>Comportamiento diferencial del pozo de Ovejas según el análisis ITA.</a:t>
            </a:r>
          </a:p>
        </p:txBody>
      </p:sp>
    </p:spTree>
    <p:extLst>
      <p:ext uri="{BB962C8B-B14F-4D97-AF65-F5344CB8AC3E}">
        <p14:creationId xmlns:p14="http://schemas.microsoft.com/office/powerpoint/2010/main" val="3708743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C56E1D2-06A9-712B-BF02-4011A630B67B}"/>
              </a:ext>
            </a:extLst>
          </p:cNvPr>
          <p:cNvSpPr txBox="1"/>
          <p:nvPr/>
        </p:nvSpPr>
        <p:spPr>
          <a:xfrm>
            <a:off x="479351" y="3087161"/>
            <a:ext cx="11233298" cy="3170099"/>
          </a:xfrm>
          <a:prstGeom prst="rect">
            <a:avLst/>
          </a:prstGeom>
          <a:noFill/>
        </p:spPr>
        <p:txBody>
          <a:bodyPr wrap="square">
            <a:spAutoFit/>
          </a:bodyPr>
          <a:lstStyle/>
          <a:p>
            <a:pPr algn="just"/>
            <a:r>
              <a:rPr lang="es-CO" sz="2000" dirty="0"/>
              <a:t>Con el propósito de complementar el análisis de tendencias obtenido mediante regresión lineal y gradientes piezométricos, se aplicó el método </a:t>
            </a:r>
            <a:r>
              <a:rPr lang="es-CO" sz="2000" b="1" dirty="0"/>
              <a:t>Innovative Trend </a:t>
            </a:r>
            <a:r>
              <a:rPr lang="es-CO" sz="2000" b="1" dirty="0" err="1"/>
              <a:t>Analysis</a:t>
            </a:r>
            <a:r>
              <a:rPr lang="es-CO" sz="2000" b="1" dirty="0"/>
              <a:t> (ITA)</a:t>
            </a:r>
            <a:r>
              <a:rPr lang="es-CO" sz="2000" dirty="0"/>
              <a:t> a las series temporales de nivel estático correspondientes a los </a:t>
            </a:r>
            <a:r>
              <a:rPr lang="es-CO" sz="2000" b="1" dirty="0"/>
              <a:t>17 pozos de monitoreo del acuífero Morroa</a:t>
            </a:r>
            <a:r>
              <a:rPr lang="es-CO" sz="2000" dirty="0"/>
              <a:t>. Esta metodología, de carácter no paramétrico, permitió evaluar la evolución de las series sin asumir distribuciones estadísticas específicas ni requerir condiciones de estacionariedad, proporcionando una representación gráfica directa de la magnitud y dirección de las tendencias observadas. Los resultados, presentados en este Anexo, evidencian una elevada consistencia con los análisis desarrollados mediante pendientes por mínimos cuadrados ordinarios (OLS), </a:t>
            </a:r>
            <a:r>
              <a:rPr lang="es-CO" sz="2000" b="1" dirty="0"/>
              <a:t>confirmando la existencia de comportamientos diferenciados entre las distintas subregiones hidrogeológicas del acuífero</a:t>
            </a:r>
            <a:r>
              <a:rPr lang="es-CO" sz="2000" dirty="0"/>
              <a:t>.</a:t>
            </a:r>
          </a:p>
        </p:txBody>
      </p:sp>
      <p:sp>
        <p:nvSpPr>
          <p:cNvPr id="6" name="CuadroTexto 5">
            <a:extLst>
              <a:ext uri="{FF2B5EF4-FFF2-40B4-BE49-F238E27FC236}">
                <a16:creationId xmlns:a16="http://schemas.microsoft.com/office/drawing/2014/main" id="{4E62124D-1011-609B-0C23-C6C822CE71D5}"/>
              </a:ext>
            </a:extLst>
          </p:cNvPr>
          <p:cNvSpPr txBox="1"/>
          <p:nvPr/>
        </p:nvSpPr>
        <p:spPr>
          <a:xfrm>
            <a:off x="515679" y="600740"/>
            <a:ext cx="5580321" cy="369332"/>
          </a:xfrm>
          <a:prstGeom prst="rect">
            <a:avLst/>
          </a:prstGeom>
          <a:noFill/>
        </p:spPr>
        <p:txBody>
          <a:bodyPr wrap="square" rtlCol="0">
            <a:spAutoFit/>
          </a:bodyPr>
          <a:lstStyle/>
          <a:p>
            <a:r>
              <a:rPr lang="es-CO" b="1" dirty="0"/>
              <a:t>El proceso de ciencia de datos para el acuífero:</a:t>
            </a:r>
          </a:p>
        </p:txBody>
      </p:sp>
      <p:sp>
        <p:nvSpPr>
          <p:cNvPr id="8" name="CuadroTexto 7">
            <a:extLst>
              <a:ext uri="{FF2B5EF4-FFF2-40B4-BE49-F238E27FC236}">
                <a16:creationId xmlns:a16="http://schemas.microsoft.com/office/drawing/2014/main" id="{37616ABE-377E-F782-B9EC-BDF8B0D2BBFD}"/>
              </a:ext>
            </a:extLst>
          </p:cNvPr>
          <p:cNvSpPr txBox="1"/>
          <p:nvPr/>
        </p:nvSpPr>
        <p:spPr>
          <a:xfrm>
            <a:off x="655230" y="1277640"/>
            <a:ext cx="10397313" cy="1477328"/>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marL="342900" lvl="0" indent="-342900">
              <a:buFont typeface="Arial" panose="020B0604020202020204" pitchFamily="34" charset="0"/>
              <a:buChar char="•"/>
            </a:pPr>
            <a:r>
              <a:rPr lang="es-CO" b="1" dirty="0"/>
              <a:t>Gradientes (OLS)</a:t>
            </a:r>
            <a:r>
              <a:rPr lang="es-CO" dirty="0"/>
              <a:t> → cuantifican la velocidad del cambio. </a:t>
            </a:r>
          </a:p>
          <a:p>
            <a:pPr marL="342900" lvl="0" indent="-342900">
              <a:buFont typeface="Arial" panose="020B0604020202020204" pitchFamily="34" charset="0"/>
              <a:buChar char="•"/>
            </a:pPr>
            <a:r>
              <a:rPr lang="es-CO" b="1" dirty="0"/>
              <a:t>ITA</a:t>
            </a:r>
            <a:r>
              <a:rPr lang="es-CO" dirty="0"/>
              <a:t> → confirma la existencia y dirección de la tendencia sin depender de supuestos paramétricos. </a:t>
            </a:r>
          </a:p>
          <a:p>
            <a:pPr marL="342900" lvl="0" indent="-342900">
              <a:buFont typeface="Arial" panose="020B0604020202020204" pitchFamily="34" charset="0"/>
              <a:buChar char="•"/>
            </a:pPr>
            <a:r>
              <a:rPr lang="es-CO" b="1" dirty="0"/>
              <a:t>PCA y t-SNE</a:t>
            </a:r>
            <a:r>
              <a:rPr lang="es-CO" dirty="0"/>
              <a:t> → agrupan pozos con comportamientos similares. </a:t>
            </a:r>
          </a:p>
          <a:p>
            <a:pPr marL="342900" lvl="0" indent="-342900">
              <a:buFont typeface="Arial" panose="020B0604020202020204" pitchFamily="34" charset="0"/>
              <a:buChar char="•"/>
            </a:pPr>
            <a:r>
              <a:rPr lang="es-CO" b="1" dirty="0"/>
              <a:t>ISAC e IMCP</a:t>
            </a:r>
            <a:r>
              <a:rPr lang="es-CO" dirty="0"/>
              <a:t> → traducen esas tendencias en indicadores de estabilidad y criticidad. </a:t>
            </a:r>
          </a:p>
          <a:p>
            <a:pPr marL="342900" lvl="0" indent="-342900">
              <a:buFont typeface="Arial" panose="020B0604020202020204" pitchFamily="34" charset="0"/>
              <a:buChar char="•"/>
            </a:pPr>
            <a:r>
              <a:rPr lang="es-CO" b="1" dirty="0"/>
              <a:t>Gemelo Digital</a:t>
            </a:r>
            <a:r>
              <a:rPr lang="es-CO" dirty="0"/>
              <a:t> → utiliza toda esa evidencia integrada para apoyar la toma de decisiones.</a:t>
            </a:r>
          </a:p>
        </p:txBody>
      </p:sp>
    </p:spTree>
    <p:extLst>
      <p:ext uri="{BB962C8B-B14F-4D97-AF65-F5344CB8AC3E}">
        <p14:creationId xmlns:p14="http://schemas.microsoft.com/office/powerpoint/2010/main" val="193851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13B41-0A1F-94CB-1BCF-25CCB4ABC0C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4CA2AC8-6E22-F13D-DBCD-4C09210F9A66}"/>
              </a:ext>
            </a:extLst>
          </p:cNvPr>
          <p:cNvSpPr txBox="1"/>
          <p:nvPr/>
        </p:nvSpPr>
        <p:spPr>
          <a:xfrm>
            <a:off x="527198" y="693135"/>
            <a:ext cx="11233298" cy="3785652"/>
          </a:xfrm>
          <a:prstGeom prst="rect">
            <a:avLst/>
          </a:prstGeom>
          <a:noFill/>
        </p:spPr>
        <p:txBody>
          <a:bodyPr wrap="square">
            <a:spAutoFit/>
          </a:bodyPr>
          <a:lstStyle/>
          <a:p>
            <a:pPr algn="just"/>
            <a:r>
              <a:rPr lang="es-ES" sz="2000" dirty="0"/>
              <a:t>A escala regional, el </a:t>
            </a:r>
            <a:r>
              <a:rPr lang="es-ES" sz="2000" b="1" dirty="0"/>
              <a:t>ITA permitió identificar un patrón espacial claramente estructurado</a:t>
            </a:r>
            <a:r>
              <a:rPr lang="es-ES" sz="2000" dirty="0"/>
              <a:t>. Los pozos localizados en la </a:t>
            </a:r>
            <a:r>
              <a:rPr lang="es-ES" sz="2000" b="1" dirty="0">
                <a:solidFill>
                  <a:schemeClr val="accent2"/>
                </a:solidFill>
              </a:rPr>
              <a:t>subregión norte, particularmente en el municipio de Ovejas, presentan distribuciones próximas a la línea de referencia del método, reflejando condiciones de relativa estabilidad e incluso ligeras tendencias de recuperación en algunos periodos</a:t>
            </a:r>
            <a:r>
              <a:rPr lang="es-ES" sz="2000" dirty="0"/>
              <a:t>. En contraste, </a:t>
            </a:r>
            <a:r>
              <a:rPr lang="es-ES" sz="2000" b="1" dirty="0">
                <a:solidFill>
                  <a:srgbClr val="0070C0"/>
                </a:solidFill>
              </a:rPr>
              <a:t>los pozos situados en las zonas central y sur del acuífero, correspondientes principalmente a los municipios de Corozal, Morroa y Los Palmitos, muestran un desplazamiento sistemático de los puntos respecto a dicha línea, indicando tendencias persistentes de descenso del nivel estático y una intensificación progresiva del abatimiento piezométrico</a:t>
            </a:r>
            <a:r>
              <a:rPr lang="es-ES" sz="2000" dirty="0"/>
              <a:t>. </a:t>
            </a:r>
            <a:r>
              <a:rPr lang="es-ES" sz="2000" b="1" u="sng" dirty="0"/>
              <a:t>Esta diferenciación espacial coincide con los resultados obtenidos mediante el análisis de gradientes, los algoritmos de agrupamiento (PCA y t-SNE) y los índices hidrogeológicos propuestos (ISAC e IMCP), lo que constituye una validación independiente de los patrones de comportamiento identificados durante la investigación</a:t>
            </a:r>
            <a:r>
              <a:rPr lang="es-ES" sz="2000" dirty="0"/>
              <a:t>.</a:t>
            </a:r>
            <a:endParaRPr lang="es-CO" sz="2000" dirty="0"/>
          </a:p>
        </p:txBody>
      </p:sp>
      <p:sp>
        <p:nvSpPr>
          <p:cNvPr id="2" name="CuadroTexto 1">
            <a:extLst>
              <a:ext uri="{FF2B5EF4-FFF2-40B4-BE49-F238E27FC236}">
                <a16:creationId xmlns:a16="http://schemas.microsoft.com/office/drawing/2014/main" id="{6AC1839A-8686-081D-9E31-803DBC7FEDC5}"/>
              </a:ext>
            </a:extLst>
          </p:cNvPr>
          <p:cNvSpPr txBox="1"/>
          <p:nvPr/>
        </p:nvSpPr>
        <p:spPr>
          <a:xfrm>
            <a:off x="3083443" y="5419791"/>
            <a:ext cx="781493" cy="369332"/>
          </a:xfrm>
          <a:prstGeom prst="rect">
            <a:avLst/>
          </a:prstGeom>
          <a:noFill/>
          <a:ln>
            <a:solidFill>
              <a:schemeClr val="accent2"/>
            </a:solidFill>
          </a:ln>
        </p:spPr>
        <p:txBody>
          <a:bodyPr wrap="square" rtlCol="0">
            <a:spAutoFit/>
          </a:bodyPr>
          <a:lstStyle/>
          <a:p>
            <a:pPr algn="ctr"/>
            <a:r>
              <a:rPr lang="es-CO" b="1" dirty="0"/>
              <a:t>ITA</a:t>
            </a:r>
          </a:p>
        </p:txBody>
      </p:sp>
      <p:sp>
        <p:nvSpPr>
          <p:cNvPr id="3" name="CuadroTexto 2">
            <a:extLst>
              <a:ext uri="{FF2B5EF4-FFF2-40B4-BE49-F238E27FC236}">
                <a16:creationId xmlns:a16="http://schemas.microsoft.com/office/drawing/2014/main" id="{9E38EA8B-F4A6-0BD0-2F8E-92CA224EBD5E}"/>
              </a:ext>
            </a:extLst>
          </p:cNvPr>
          <p:cNvSpPr txBox="1"/>
          <p:nvPr/>
        </p:nvSpPr>
        <p:spPr>
          <a:xfrm>
            <a:off x="4899838" y="4958315"/>
            <a:ext cx="1527543" cy="369332"/>
          </a:xfrm>
          <a:prstGeom prst="rect">
            <a:avLst/>
          </a:prstGeom>
          <a:noFill/>
          <a:ln>
            <a:solidFill>
              <a:schemeClr val="accent3"/>
            </a:solidFill>
          </a:ln>
        </p:spPr>
        <p:txBody>
          <a:bodyPr wrap="square" rtlCol="0">
            <a:spAutoFit/>
          </a:bodyPr>
          <a:lstStyle/>
          <a:p>
            <a:pPr algn="ctr"/>
            <a:r>
              <a:rPr lang="es-CO" b="1" dirty="0"/>
              <a:t>Gradientes</a:t>
            </a:r>
          </a:p>
        </p:txBody>
      </p:sp>
      <p:sp>
        <p:nvSpPr>
          <p:cNvPr id="4" name="CuadroTexto 3">
            <a:extLst>
              <a:ext uri="{FF2B5EF4-FFF2-40B4-BE49-F238E27FC236}">
                <a16:creationId xmlns:a16="http://schemas.microsoft.com/office/drawing/2014/main" id="{F0E901CE-E384-154E-DE70-4DE2A18A3A75}"/>
              </a:ext>
            </a:extLst>
          </p:cNvPr>
          <p:cNvSpPr txBox="1"/>
          <p:nvPr/>
        </p:nvSpPr>
        <p:spPr>
          <a:xfrm>
            <a:off x="5083692" y="5624987"/>
            <a:ext cx="1139456" cy="369332"/>
          </a:xfrm>
          <a:prstGeom prst="rect">
            <a:avLst/>
          </a:prstGeom>
          <a:noFill/>
          <a:ln>
            <a:solidFill>
              <a:srgbClr val="FFC000"/>
            </a:solidFill>
          </a:ln>
        </p:spPr>
        <p:txBody>
          <a:bodyPr wrap="square" rtlCol="0">
            <a:spAutoFit/>
          </a:bodyPr>
          <a:lstStyle/>
          <a:p>
            <a:pPr algn="ctr"/>
            <a:r>
              <a:rPr lang="es-CO" b="1" dirty="0"/>
              <a:t>Clusters </a:t>
            </a:r>
          </a:p>
        </p:txBody>
      </p:sp>
      <p:sp>
        <p:nvSpPr>
          <p:cNvPr id="6" name="CuadroTexto 5">
            <a:extLst>
              <a:ext uri="{FF2B5EF4-FFF2-40B4-BE49-F238E27FC236}">
                <a16:creationId xmlns:a16="http://schemas.microsoft.com/office/drawing/2014/main" id="{700A44FB-2C2A-61C7-CDB8-77A1F8F02E6B}"/>
              </a:ext>
            </a:extLst>
          </p:cNvPr>
          <p:cNvSpPr txBox="1"/>
          <p:nvPr/>
        </p:nvSpPr>
        <p:spPr>
          <a:xfrm>
            <a:off x="6750788" y="4958315"/>
            <a:ext cx="1139456" cy="369332"/>
          </a:xfrm>
          <a:prstGeom prst="rect">
            <a:avLst/>
          </a:prstGeom>
          <a:noFill/>
          <a:ln>
            <a:solidFill>
              <a:schemeClr val="accent5">
                <a:lumMod val="75000"/>
              </a:schemeClr>
            </a:solidFill>
          </a:ln>
        </p:spPr>
        <p:txBody>
          <a:bodyPr wrap="square" rtlCol="0">
            <a:spAutoFit/>
          </a:bodyPr>
          <a:lstStyle/>
          <a:p>
            <a:pPr algn="ctr"/>
            <a:r>
              <a:rPr lang="es-CO" b="1" dirty="0"/>
              <a:t>ISAC </a:t>
            </a:r>
          </a:p>
        </p:txBody>
      </p:sp>
      <p:sp>
        <p:nvSpPr>
          <p:cNvPr id="7" name="CuadroTexto 6">
            <a:extLst>
              <a:ext uri="{FF2B5EF4-FFF2-40B4-BE49-F238E27FC236}">
                <a16:creationId xmlns:a16="http://schemas.microsoft.com/office/drawing/2014/main" id="{BBCD948C-FFFC-E76D-4A18-9372BD9607A5}"/>
              </a:ext>
            </a:extLst>
          </p:cNvPr>
          <p:cNvSpPr txBox="1"/>
          <p:nvPr/>
        </p:nvSpPr>
        <p:spPr>
          <a:xfrm>
            <a:off x="6750788" y="5624987"/>
            <a:ext cx="1139456" cy="369332"/>
          </a:xfrm>
          <a:prstGeom prst="rect">
            <a:avLst/>
          </a:prstGeom>
          <a:noFill/>
          <a:ln>
            <a:solidFill>
              <a:srgbClr val="FF0000"/>
            </a:solidFill>
          </a:ln>
        </p:spPr>
        <p:txBody>
          <a:bodyPr wrap="square" rtlCol="0">
            <a:spAutoFit/>
          </a:bodyPr>
          <a:lstStyle/>
          <a:p>
            <a:pPr algn="ctr"/>
            <a:r>
              <a:rPr lang="es-CO" b="1" dirty="0"/>
              <a:t>IMCP </a:t>
            </a:r>
          </a:p>
        </p:txBody>
      </p:sp>
      <p:sp>
        <p:nvSpPr>
          <p:cNvPr id="8" name="CuadroTexto 7">
            <a:extLst>
              <a:ext uri="{FF2B5EF4-FFF2-40B4-BE49-F238E27FC236}">
                <a16:creationId xmlns:a16="http://schemas.microsoft.com/office/drawing/2014/main" id="{23AA4C86-C3A7-53F4-0EE4-9454816AA57F}"/>
              </a:ext>
            </a:extLst>
          </p:cNvPr>
          <p:cNvSpPr txBox="1"/>
          <p:nvPr/>
        </p:nvSpPr>
        <p:spPr>
          <a:xfrm>
            <a:off x="4022653" y="5166265"/>
            <a:ext cx="637954" cy="769441"/>
          </a:xfrm>
          <a:prstGeom prst="rect">
            <a:avLst/>
          </a:prstGeom>
          <a:noFill/>
        </p:spPr>
        <p:txBody>
          <a:bodyPr wrap="square" rtlCol="0">
            <a:spAutoFit/>
          </a:bodyPr>
          <a:lstStyle/>
          <a:p>
            <a:pPr algn="ctr"/>
            <a:r>
              <a:rPr lang="es-CO" sz="4400" b="1" dirty="0">
                <a:solidFill>
                  <a:schemeClr val="accent3">
                    <a:lumMod val="75000"/>
                  </a:schemeClr>
                </a:solidFill>
              </a:rPr>
              <a:t>≈</a:t>
            </a:r>
          </a:p>
        </p:txBody>
      </p:sp>
      <p:sp>
        <p:nvSpPr>
          <p:cNvPr id="9" name="Rectángulo 8">
            <a:extLst>
              <a:ext uri="{FF2B5EF4-FFF2-40B4-BE49-F238E27FC236}">
                <a16:creationId xmlns:a16="http://schemas.microsoft.com/office/drawing/2014/main" id="{7E50EBB9-5D08-0DDF-CF20-1087C351D5A9}"/>
              </a:ext>
            </a:extLst>
          </p:cNvPr>
          <p:cNvSpPr/>
          <p:nvPr/>
        </p:nvSpPr>
        <p:spPr>
          <a:xfrm>
            <a:off x="4768702" y="4707946"/>
            <a:ext cx="3444949" cy="1602477"/>
          </a:xfrm>
          <a:prstGeom prst="rect">
            <a:avLst/>
          </a:prstGeom>
          <a:noFill/>
          <a:ln>
            <a:solidFill>
              <a:schemeClr val="accent2"/>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1" name="Imagen 10">
            <a:extLst>
              <a:ext uri="{FF2B5EF4-FFF2-40B4-BE49-F238E27FC236}">
                <a16:creationId xmlns:a16="http://schemas.microsoft.com/office/drawing/2014/main" id="{4FFD4C02-B5E8-D4C2-7068-98A907A91571}"/>
              </a:ext>
            </a:extLst>
          </p:cNvPr>
          <p:cNvPicPr>
            <a:picLocks noChangeAspect="1"/>
          </p:cNvPicPr>
          <p:nvPr/>
        </p:nvPicPr>
        <p:blipFill>
          <a:blip r:embed="rId2"/>
          <a:stretch>
            <a:fillRect/>
          </a:stretch>
        </p:blipFill>
        <p:spPr>
          <a:xfrm>
            <a:off x="9051348" y="4499091"/>
            <a:ext cx="1752648" cy="2020186"/>
          </a:xfrm>
          <a:prstGeom prst="rect">
            <a:avLst/>
          </a:prstGeom>
        </p:spPr>
      </p:pic>
      <p:sp>
        <p:nvSpPr>
          <p:cNvPr id="12" name="Flecha: a la derecha 11">
            <a:extLst>
              <a:ext uri="{FF2B5EF4-FFF2-40B4-BE49-F238E27FC236}">
                <a16:creationId xmlns:a16="http://schemas.microsoft.com/office/drawing/2014/main" id="{75E36286-C04E-4890-34D3-6EC44412F8D8}"/>
              </a:ext>
            </a:extLst>
          </p:cNvPr>
          <p:cNvSpPr/>
          <p:nvPr/>
        </p:nvSpPr>
        <p:spPr>
          <a:xfrm>
            <a:off x="8357191" y="5509184"/>
            <a:ext cx="499730" cy="279939"/>
          </a:xfrm>
          <a:prstGeom prst="rightArrow">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742198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256D-AD45-0F03-91B9-B1D03CA3DD0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1234306-3A7D-ED9D-89E8-AC09B13AF87B}"/>
              </a:ext>
            </a:extLst>
          </p:cNvPr>
          <p:cNvSpPr txBox="1"/>
          <p:nvPr/>
        </p:nvSpPr>
        <p:spPr>
          <a:xfrm>
            <a:off x="548640" y="667164"/>
            <a:ext cx="10667048" cy="2677656"/>
          </a:xfrm>
          <a:prstGeom prst="rect">
            <a:avLst/>
          </a:prstGeom>
          <a:noFill/>
        </p:spPr>
        <p:txBody>
          <a:bodyPr wrap="square">
            <a:spAutoFit/>
          </a:bodyPr>
          <a:lstStyle/>
          <a:p>
            <a:pPr>
              <a:buNone/>
            </a:pPr>
            <a:r>
              <a:rPr lang="es-CO" sz="2400" b="1" dirty="0"/>
              <a:t>Algunos ejemplos del código de ITA aplicado a algunos pozos</a:t>
            </a:r>
            <a:r>
              <a:rPr lang="es-CO" sz="2400" dirty="0"/>
              <a:t>:</a:t>
            </a:r>
          </a:p>
          <a:p>
            <a:pPr>
              <a:buNone/>
            </a:pPr>
            <a:r>
              <a:rPr lang="es-CO" sz="2400" dirty="0"/>
              <a:t> </a:t>
            </a:r>
          </a:p>
          <a:p>
            <a:r>
              <a:rPr lang="es-CO" sz="2400" b="1" dirty="0"/>
              <a:t>ITA sobre medianas anuales</a:t>
            </a:r>
            <a:r>
              <a:rPr lang="es-CO" sz="2400" dirty="0"/>
              <a:t>, metodológicamente más comparable entre periodos porque cada año recibe el mismo peso. </a:t>
            </a:r>
          </a:p>
          <a:p>
            <a:pPr>
              <a:buNone/>
            </a:pPr>
            <a:endParaRPr lang="es-CO" sz="2400" dirty="0"/>
          </a:p>
          <a:p>
            <a:pPr>
              <a:buNone/>
            </a:pPr>
            <a:r>
              <a:rPr lang="es-CO" sz="2400" dirty="0"/>
              <a:t>Para la tesis recomiendo reportar como análisis principal la versión anual y utilizar la serie completa como análisis de sensibilidad.</a:t>
            </a:r>
          </a:p>
        </p:txBody>
      </p:sp>
      <p:sp>
        <p:nvSpPr>
          <p:cNvPr id="4" name="CuadroTexto 3">
            <a:extLst>
              <a:ext uri="{FF2B5EF4-FFF2-40B4-BE49-F238E27FC236}">
                <a16:creationId xmlns:a16="http://schemas.microsoft.com/office/drawing/2014/main" id="{2633C6DD-8461-8987-95CB-ADE140C484A4}"/>
              </a:ext>
            </a:extLst>
          </p:cNvPr>
          <p:cNvSpPr txBox="1"/>
          <p:nvPr/>
        </p:nvSpPr>
        <p:spPr>
          <a:xfrm>
            <a:off x="548640" y="4055837"/>
            <a:ext cx="10595610" cy="1477328"/>
          </a:xfrm>
          <a:prstGeom prst="rect">
            <a:avLst/>
          </a:prstGeom>
          <a:noFill/>
        </p:spPr>
        <p:txBody>
          <a:bodyPr wrap="square">
            <a:spAutoFit/>
          </a:bodyPr>
          <a:lstStyle/>
          <a:p>
            <a:r>
              <a:rPr lang="es-CO" b="0" i="0" dirty="0">
                <a:solidFill>
                  <a:srgbClr val="FF0000"/>
                </a:solidFill>
                <a:effectLst/>
                <a:latin typeface="Courier New" panose="02070309020205020404" pitchFamily="49" charset="0"/>
              </a:rPr>
              <a:t>====================================================================== Sampués - #52-II-C-PZ-01 ====================================================================== Número de registros: 71 Fecha inicial: 15/02/2010 Fecha final: 11/11/2025 Nivel mínimo: 33.85 m Nivel máximo: 49.13 m</a:t>
            </a:r>
            <a:endParaRPr lang="es-CO" sz="3600" dirty="0">
              <a:solidFill>
                <a:srgbClr val="FF0000"/>
              </a:solidFill>
            </a:endParaRPr>
          </a:p>
        </p:txBody>
      </p:sp>
    </p:spTree>
    <p:extLst>
      <p:ext uri="{BB962C8B-B14F-4D97-AF65-F5344CB8AC3E}">
        <p14:creationId xmlns:p14="http://schemas.microsoft.com/office/powerpoint/2010/main" val="45161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9576-0569-EF86-0928-28218D7BD41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175AF71-24C1-4F0F-AD4B-C694C6D95735}"/>
              </a:ext>
            </a:extLst>
          </p:cNvPr>
          <p:cNvSpPr txBox="1"/>
          <p:nvPr/>
        </p:nvSpPr>
        <p:spPr>
          <a:xfrm>
            <a:off x="477520" y="241861"/>
            <a:ext cx="11450320" cy="4801314"/>
          </a:xfrm>
          <a:prstGeom prst="rect">
            <a:avLst/>
          </a:prstGeom>
          <a:noFill/>
        </p:spPr>
        <p:txBody>
          <a:bodyPr wrap="square">
            <a:spAutoFit/>
          </a:bodyPr>
          <a:lstStyle/>
          <a:p>
            <a:r>
              <a:rPr lang="es-CO" b="0" i="0" dirty="0">
                <a:solidFill>
                  <a:srgbClr val="FF0000"/>
                </a:solidFill>
                <a:effectLst/>
                <a:latin typeface="Courier New" panose="02070309020205020404" pitchFamily="49" charset="0"/>
              </a:rPr>
              <a:t>=========================================================================== RESULTADOS PRINCIPALES =========================================================================== Pozo: Sampués - #52-II-C-PZ-01 Modalidad ITA principal: Medianas anuales </a:t>
            </a:r>
          </a:p>
          <a:p>
            <a:r>
              <a:rPr lang="es-CO" b="0" i="0" dirty="0">
                <a:solidFill>
                  <a:srgbClr val="FF0000"/>
                </a:solidFill>
                <a:effectLst/>
                <a:latin typeface="Courier New" panose="02070309020205020404" pitchFamily="49" charset="0"/>
              </a:rPr>
              <a:t>Media primera mitad: 37.172 m </a:t>
            </a:r>
          </a:p>
          <a:p>
            <a:r>
              <a:rPr lang="es-CO" b="0" i="0" dirty="0">
                <a:solidFill>
                  <a:srgbClr val="FF0000"/>
                </a:solidFill>
                <a:effectLst/>
                <a:latin typeface="Courier New" panose="02070309020205020404" pitchFamily="49" charset="0"/>
              </a:rPr>
              <a:t>Media segunda mitad: 46.064 m </a:t>
            </a:r>
          </a:p>
          <a:p>
            <a:r>
              <a:rPr lang="es-CO" b="0" i="0" dirty="0">
                <a:solidFill>
                  <a:srgbClr val="FF0000"/>
                </a:solidFill>
                <a:effectLst/>
                <a:latin typeface="Courier New" panose="02070309020205020404" pitchFamily="49" charset="0"/>
              </a:rPr>
              <a:t>Diferencia entre medias: 8.892 m </a:t>
            </a:r>
          </a:p>
          <a:p>
            <a:r>
              <a:rPr lang="es-CO" b="0" i="0" dirty="0">
                <a:solidFill>
                  <a:srgbClr val="FF0000"/>
                </a:solidFill>
                <a:effectLst/>
                <a:latin typeface="Courier New" panose="02070309020205020404" pitchFamily="49" charset="0"/>
              </a:rPr>
              <a:t>Pendiente ITA: 1.1116 </a:t>
            </a:r>
          </a:p>
          <a:p>
            <a:r>
              <a:rPr lang="es-CO" b="0" i="0" dirty="0">
                <a:solidFill>
                  <a:srgbClr val="FF0000"/>
                </a:solidFill>
                <a:effectLst/>
                <a:latin typeface="Courier New" panose="02070309020205020404" pitchFamily="49" charset="0"/>
              </a:rPr>
              <a:t>Cambio relativo: 23.92 % </a:t>
            </a:r>
          </a:p>
          <a:p>
            <a:r>
              <a:rPr lang="es-CO" b="0" i="0" dirty="0">
                <a:solidFill>
                  <a:srgbClr val="FF0000"/>
                </a:solidFill>
                <a:effectLst/>
                <a:latin typeface="Courier New" panose="02070309020205020404" pitchFamily="49" charset="0"/>
              </a:rPr>
              <a:t>Clasificación ITA: Descenso piezométrico </a:t>
            </a:r>
          </a:p>
          <a:p>
            <a:r>
              <a:rPr lang="es-CO" b="0" i="0" dirty="0">
                <a:solidFill>
                  <a:srgbClr val="FF0000"/>
                </a:solidFill>
                <a:effectLst/>
                <a:latin typeface="Courier New" panose="02070309020205020404" pitchFamily="49" charset="0"/>
              </a:rPr>
              <a:t>Regresión lineal OLS: </a:t>
            </a:r>
          </a:p>
          <a:p>
            <a:r>
              <a:rPr lang="es-CO" b="0" i="0" dirty="0">
                <a:solidFill>
                  <a:srgbClr val="FF0000"/>
                </a:solidFill>
                <a:effectLst/>
                <a:latin typeface="Courier New" panose="02070309020205020404" pitchFamily="49" charset="0"/>
              </a:rPr>
              <a:t>Pendiente OLS: 1.1147 m/año </a:t>
            </a:r>
          </a:p>
          <a:p>
            <a:r>
              <a:rPr lang="es-CO" b="0" i="0" dirty="0">
                <a:solidFill>
                  <a:srgbClr val="FF0000"/>
                </a:solidFill>
                <a:effectLst/>
                <a:latin typeface="Courier New" panose="02070309020205020404" pitchFamily="49" charset="0"/>
              </a:rPr>
              <a:t>R²: 0.9769 </a:t>
            </a:r>
          </a:p>
          <a:p>
            <a:r>
              <a:rPr lang="es-CO" b="0" i="0" dirty="0">
                <a:solidFill>
                  <a:srgbClr val="FF0000"/>
                </a:solidFill>
                <a:effectLst/>
                <a:latin typeface="Courier New" panose="02070309020205020404" pitchFamily="49" charset="0"/>
              </a:rPr>
              <a:t>p-valor: 3.163888e-58 </a:t>
            </a:r>
          </a:p>
          <a:p>
            <a:r>
              <a:rPr lang="es-CO" b="0" i="0" dirty="0">
                <a:solidFill>
                  <a:srgbClr val="FF0000"/>
                </a:solidFill>
                <a:effectLst/>
                <a:latin typeface="Courier New" panose="02070309020205020404" pitchFamily="49" charset="0"/>
              </a:rPr>
              <a:t>Clasificación OLS: Descenso piezométrico Concordancia metodológica: ITA y OLS identifican la misma dirección hidrogeológica. </a:t>
            </a:r>
            <a:br>
              <a:rPr lang="es-CO" dirty="0">
                <a:solidFill>
                  <a:srgbClr val="FF0000"/>
                </a:solidFill>
              </a:rPr>
            </a:br>
            <a:endParaRPr lang="es-CO" dirty="0">
              <a:solidFill>
                <a:srgbClr val="FF0000"/>
              </a:solidFill>
            </a:endParaRPr>
          </a:p>
        </p:txBody>
      </p:sp>
      <p:sp>
        <p:nvSpPr>
          <p:cNvPr id="5" name="CuadroTexto 4">
            <a:extLst>
              <a:ext uri="{FF2B5EF4-FFF2-40B4-BE49-F238E27FC236}">
                <a16:creationId xmlns:a16="http://schemas.microsoft.com/office/drawing/2014/main" id="{1387C272-432D-E2A8-646E-2DB8EF444EFF}"/>
              </a:ext>
            </a:extLst>
          </p:cNvPr>
          <p:cNvSpPr txBox="1"/>
          <p:nvPr/>
        </p:nvSpPr>
        <p:spPr>
          <a:xfrm>
            <a:off x="477520" y="5043175"/>
            <a:ext cx="11236960" cy="1200329"/>
          </a:xfrm>
          <a:prstGeom prst="rect">
            <a:avLst/>
          </a:prstGeom>
          <a:noFill/>
        </p:spPr>
        <p:txBody>
          <a:bodyPr wrap="square">
            <a:spAutoFit/>
          </a:bodyPr>
          <a:lstStyle/>
          <a:p>
            <a:r>
              <a:rPr lang="es-CO" b="1" dirty="0">
                <a:solidFill>
                  <a:schemeClr val="accent6"/>
                </a:solidFill>
              </a:rPr>
              <a:t>Conclusión: </a:t>
            </a:r>
            <a:r>
              <a:rPr lang="es-CO" dirty="0"/>
              <a:t>Sampués muestra una concordancia muy fuerte entre ITA y OLS, dado que el nivel estático pasa de valores próximos a 34–35 m durante los primeros años a profundidades cercanas a 49 m al final de la serie. Esto debe interpretarse como una </a:t>
            </a:r>
            <a:r>
              <a:rPr lang="es-CO" b="1" dirty="0"/>
              <a:t>profundización persistente del nivel estático y, por tanto, como evidencia de descenso piezométrico</a:t>
            </a:r>
            <a:r>
              <a:rPr lang="es-CO" dirty="0"/>
              <a:t>, no como un aumento favorable del nivel de agua.</a:t>
            </a:r>
          </a:p>
        </p:txBody>
      </p:sp>
    </p:spTree>
    <p:extLst>
      <p:ext uri="{BB962C8B-B14F-4D97-AF65-F5344CB8AC3E}">
        <p14:creationId xmlns:p14="http://schemas.microsoft.com/office/powerpoint/2010/main" val="2368858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EE0C5-D294-0366-920C-7F6CE444E98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8038862-2E2C-7887-D107-5EEB8931EBE7}"/>
              </a:ext>
            </a:extLst>
          </p:cNvPr>
          <p:cNvSpPr txBox="1"/>
          <p:nvPr/>
        </p:nvSpPr>
        <p:spPr>
          <a:xfrm>
            <a:off x="313661" y="456198"/>
            <a:ext cx="11461897" cy="1477328"/>
          </a:xfrm>
          <a:prstGeom prst="rect">
            <a:avLst/>
          </a:prstGeom>
          <a:noFill/>
          <a:ln>
            <a:solidFill>
              <a:schemeClr val="accent1"/>
            </a:solidFill>
          </a:ln>
        </p:spPr>
        <p:txBody>
          <a:bodyPr wrap="square">
            <a:spAutoFit/>
          </a:bodyPr>
          <a:lstStyle/>
          <a:p>
            <a:pPr>
              <a:buNone/>
            </a:pPr>
            <a:r>
              <a:rPr lang="es-CO" dirty="0"/>
              <a:t>En el gráfico ITA: </a:t>
            </a:r>
            <a:r>
              <a:rPr lang="es-CO" dirty="0">
                <a:solidFill>
                  <a:srgbClr val="FF0000"/>
                </a:solidFill>
                <a:latin typeface="Courier New" panose="02070309020205020404" pitchFamily="49" charset="0"/>
              </a:rPr>
              <a:t>Sampués - #52-II-C-PZ-01 </a:t>
            </a:r>
            <a:endParaRPr lang="es-CO" dirty="0"/>
          </a:p>
          <a:p>
            <a:pPr>
              <a:buFont typeface="Arial" panose="020B0604020202020204" pitchFamily="34" charset="0"/>
              <a:buChar char="•"/>
            </a:pPr>
            <a:r>
              <a:rPr lang="es-CO" b="1" dirty="0"/>
              <a:t>puntos sobre la línea 1:1:</a:t>
            </a:r>
            <a:r>
              <a:rPr lang="es-CO" dirty="0"/>
              <a:t> la segunda mitad presenta mayores profundidades que la primera; representa descenso piezométrico; </a:t>
            </a:r>
            <a:r>
              <a:rPr lang="es-CO" b="1" dirty="0"/>
              <a:t>puntos bajo la línea 1:1:</a:t>
            </a:r>
            <a:r>
              <a:rPr lang="es-CO" dirty="0"/>
              <a:t> indica recuperación; </a:t>
            </a:r>
          </a:p>
          <a:p>
            <a:pPr>
              <a:buFont typeface="Arial" panose="020B0604020202020204" pitchFamily="34" charset="0"/>
              <a:buChar char="•"/>
            </a:pPr>
            <a:r>
              <a:rPr lang="es-CO" b="1" dirty="0"/>
              <a:t>puntos próximos a la línea:</a:t>
            </a:r>
            <a:r>
              <a:rPr lang="es-CO" dirty="0"/>
              <a:t> </a:t>
            </a:r>
            <a:r>
              <a:rPr lang="es-CO" b="1" dirty="0">
                <a:solidFill>
                  <a:schemeClr val="accent1"/>
                </a:solidFill>
              </a:rPr>
              <a:t>indican estabilidad relativa</a:t>
            </a:r>
            <a:r>
              <a:rPr lang="es-CO" dirty="0"/>
              <a:t>; </a:t>
            </a:r>
            <a:r>
              <a:rPr lang="es-CO" b="1" dirty="0">
                <a:solidFill>
                  <a:schemeClr val="accent5"/>
                </a:solidFill>
              </a:rPr>
              <a:t>círculos, cuadrados y triángulos representan niveles bajos, medios y altos dentro de la distribución, respectivamente</a:t>
            </a:r>
            <a:r>
              <a:rPr lang="es-CO" dirty="0"/>
              <a:t>.</a:t>
            </a:r>
          </a:p>
        </p:txBody>
      </p:sp>
      <p:pic>
        <p:nvPicPr>
          <p:cNvPr id="4" name="Imagen 3">
            <a:extLst>
              <a:ext uri="{FF2B5EF4-FFF2-40B4-BE49-F238E27FC236}">
                <a16:creationId xmlns:a16="http://schemas.microsoft.com/office/drawing/2014/main" id="{3820207D-BC2E-A195-9CE3-1879924AD44E}"/>
              </a:ext>
            </a:extLst>
          </p:cNvPr>
          <p:cNvPicPr>
            <a:picLocks noChangeAspect="1"/>
          </p:cNvPicPr>
          <p:nvPr/>
        </p:nvPicPr>
        <p:blipFill>
          <a:blip r:embed="rId2"/>
          <a:stretch>
            <a:fillRect/>
          </a:stretch>
        </p:blipFill>
        <p:spPr>
          <a:xfrm>
            <a:off x="1062918" y="1985211"/>
            <a:ext cx="9853514" cy="4770533"/>
          </a:xfrm>
          <a:prstGeom prst="rect">
            <a:avLst/>
          </a:prstGeom>
        </p:spPr>
      </p:pic>
    </p:spTree>
    <p:extLst>
      <p:ext uri="{BB962C8B-B14F-4D97-AF65-F5344CB8AC3E}">
        <p14:creationId xmlns:p14="http://schemas.microsoft.com/office/powerpoint/2010/main" val="3723708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0BE8A-4137-E685-64F5-96524B03EA5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EBA60A2-5697-A295-8E75-0316824E7996}"/>
              </a:ext>
            </a:extLst>
          </p:cNvPr>
          <p:cNvSpPr txBox="1"/>
          <p:nvPr/>
        </p:nvSpPr>
        <p:spPr>
          <a:xfrm>
            <a:off x="487911" y="4499413"/>
            <a:ext cx="11308907" cy="2308324"/>
          </a:xfrm>
          <a:prstGeom prst="rect">
            <a:avLst/>
          </a:prstGeom>
          <a:noFill/>
        </p:spPr>
        <p:txBody>
          <a:bodyPr wrap="square">
            <a:spAutoFit/>
          </a:bodyPr>
          <a:lstStyle/>
          <a:p>
            <a:r>
              <a:rPr lang="es-CO" sz="1600" b="1" i="0" dirty="0">
                <a:effectLst/>
                <a:latin typeface="Courier New" panose="02070309020205020404" pitchFamily="49" charset="0"/>
              </a:rPr>
              <a:t>RESULTADOS PRINCIPALES</a:t>
            </a:r>
          </a:p>
          <a:p>
            <a:r>
              <a:rPr lang="es-CO" sz="1600" b="0" i="0" dirty="0">
                <a:effectLst/>
                <a:latin typeface="Courier New" panose="02070309020205020404" pitchFamily="49" charset="0"/>
              </a:rPr>
              <a:t>=========================================================================== </a:t>
            </a:r>
          </a:p>
          <a:p>
            <a:r>
              <a:rPr lang="es-CO" sz="1600" b="0" i="0" dirty="0">
                <a:effectLst/>
                <a:latin typeface="Courier New" panose="02070309020205020404" pitchFamily="49" charset="0"/>
              </a:rPr>
              <a:t>Pozo: Finca </a:t>
            </a:r>
            <a:r>
              <a:rPr lang="es-CO" sz="1600" b="1" i="0" dirty="0">
                <a:solidFill>
                  <a:srgbClr val="FF0000"/>
                </a:solidFill>
                <a:effectLst/>
                <a:latin typeface="Courier New" panose="02070309020205020404" pitchFamily="49" charset="0"/>
              </a:rPr>
              <a:t>El Socorro (Ovejas) - #44-II-D-PO-02 </a:t>
            </a:r>
          </a:p>
          <a:p>
            <a:r>
              <a:rPr lang="es-CO" sz="1600" b="0" i="0" dirty="0">
                <a:effectLst/>
                <a:latin typeface="Courier New" panose="02070309020205020404" pitchFamily="49" charset="0"/>
              </a:rPr>
              <a:t>Modalidad ITA principal: Medianas anuales, Media primera mitad: 10.2010 m, </a:t>
            </a:r>
          </a:p>
          <a:p>
            <a:r>
              <a:rPr lang="es-CO" sz="1600" b="0" i="0" dirty="0">
                <a:effectLst/>
                <a:latin typeface="Courier New" panose="02070309020205020404" pitchFamily="49" charset="0"/>
              </a:rPr>
              <a:t>Media segunda mitad: 10.3550 m, Diferencia </a:t>
            </a:r>
            <a:r>
              <a:rPr lang="es-CO" sz="1600" b="0" i="0" dirty="0">
                <a:effectLst/>
              </a:rPr>
              <a:t>entre</a:t>
            </a:r>
            <a:r>
              <a:rPr lang="es-CO" sz="1600" b="0" i="0" dirty="0">
                <a:effectLst/>
                <a:latin typeface="Courier New" panose="02070309020205020404" pitchFamily="49" charset="0"/>
              </a:rPr>
              <a:t> medias: 0.1540 m, Pendiente ITA: 0.01925 </a:t>
            </a:r>
          </a:p>
          <a:p>
            <a:r>
              <a:rPr lang="es-CO" sz="1600" b="0" i="0" dirty="0">
                <a:effectLst/>
                <a:latin typeface="Courier New" panose="02070309020205020404" pitchFamily="49" charset="0"/>
              </a:rPr>
              <a:t>Cambio relativo: 1.51 % Clasificación ITA: Descenso piezométrico Regresión lineal OLS: Pendiente OLS: 0.05131 m/año R²: 0.09236 p-valor: 2.694030e-02 Clasificación OLS: Descenso piezométrico Concordancia metodológica: ITA y OLS identifican la misma dirección hidrogeológica.</a:t>
            </a:r>
            <a:endParaRPr lang="es-CO" sz="3200" dirty="0"/>
          </a:p>
        </p:txBody>
      </p:sp>
      <p:pic>
        <p:nvPicPr>
          <p:cNvPr id="6" name="Imagen 5">
            <a:extLst>
              <a:ext uri="{FF2B5EF4-FFF2-40B4-BE49-F238E27FC236}">
                <a16:creationId xmlns:a16="http://schemas.microsoft.com/office/drawing/2014/main" id="{23D332F8-0D08-8DDB-5243-CBCE3982A49F}"/>
              </a:ext>
            </a:extLst>
          </p:cNvPr>
          <p:cNvPicPr>
            <a:picLocks noChangeAspect="1"/>
          </p:cNvPicPr>
          <p:nvPr/>
        </p:nvPicPr>
        <p:blipFill>
          <a:blip r:embed="rId2"/>
          <a:stretch>
            <a:fillRect/>
          </a:stretch>
        </p:blipFill>
        <p:spPr>
          <a:xfrm>
            <a:off x="874491" y="269536"/>
            <a:ext cx="9007621" cy="4054191"/>
          </a:xfrm>
          <a:prstGeom prst="rect">
            <a:avLst/>
          </a:prstGeom>
        </p:spPr>
      </p:pic>
    </p:spTree>
    <p:extLst>
      <p:ext uri="{BB962C8B-B14F-4D97-AF65-F5344CB8AC3E}">
        <p14:creationId xmlns:p14="http://schemas.microsoft.com/office/powerpoint/2010/main" val="13777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DFE1B78-46D8-0C9F-87AC-8A53FFD71E1E}"/>
              </a:ext>
            </a:extLst>
          </p:cNvPr>
          <p:cNvSpPr txBox="1"/>
          <p:nvPr/>
        </p:nvSpPr>
        <p:spPr>
          <a:xfrm>
            <a:off x="711200" y="382804"/>
            <a:ext cx="10820400" cy="39703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CO" b="0" i="0" dirty="0">
                <a:effectLst/>
              </a:rPr>
              <a:t>RESULTADOS PRINCIPALES =========================================================================== </a:t>
            </a:r>
          </a:p>
          <a:p>
            <a:r>
              <a:rPr lang="es-CO" b="1" i="0" dirty="0">
                <a:solidFill>
                  <a:srgbClr val="FF0000"/>
                </a:solidFill>
                <a:effectLst/>
              </a:rPr>
              <a:t>Pozo: </a:t>
            </a:r>
            <a:r>
              <a:rPr lang="es-CO" b="1" i="0" dirty="0">
                <a:solidFill>
                  <a:schemeClr val="accent5"/>
                </a:solidFill>
                <a:effectLst/>
              </a:rPr>
              <a:t>Ovejas - #44-II-D-PO-14 </a:t>
            </a:r>
          </a:p>
          <a:p>
            <a:r>
              <a:rPr lang="es-CO" b="1" i="0" dirty="0">
                <a:effectLst/>
              </a:rPr>
              <a:t>Modalidad ITA principal: </a:t>
            </a:r>
            <a:r>
              <a:rPr lang="es-CO" b="0" i="0" dirty="0">
                <a:effectLst/>
              </a:rPr>
              <a:t>Medianas anuales Media primera mitad: 10.3019 m </a:t>
            </a:r>
          </a:p>
          <a:p>
            <a:r>
              <a:rPr lang="es-CO" b="1" i="0" dirty="0">
                <a:effectLst/>
              </a:rPr>
              <a:t>Media segunda mitad: </a:t>
            </a:r>
            <a:r>
              <a:rPr lang="es-CO" b="0" i="0" dirty="0">
                <a:effectLst/>
              </a:rPr>
              <a:t>6.2662 m </a:t>
            </a:r>
          </a:p>
          <a:p>
            <a:r>
              <a:rPr lang="es-CO" b="1" i="0" dirty="0">
                <a:effectLst/>
              </a:rPr>
              <a:t>Diferencia entre medias: </a:t>
            </a:r>
            <a:r>
              <a:rPr lang="es-CO" b="0" i="0" dirty="0">
                <a:effectLst/>
              </a:rPr>
              <a:t>-4.0356 m </a:t>
            </a:r>
          </a:p>
          <a:p>
            <a:r>
              <a:rPr lang="es-CO" b="1" i="0" dirty="0">
                <a:effectLst/>
              </a:rPr>
              <a:t>Diferencia entre medianas: </a:t>
            </a:r>
            <a:r>
              <a:rPr lang="es-CO" b="0" i="0" dirty="0">
                <a:effectLst/>
              </a:rPr>
              <a:t>-3.9975 m </a:t>
            </a:r>
          </a:p>
          <a:p>
            <a:r>
              <a:rPr lang="es-CO" b="1" i="0" dirty="0">
                <a:effectLst/>
              </a:rPr>
              <a:t>Pendiente ITA:</a:t>
            </a:r>
            <a:r>
              <a:rPr lang="es-CO" b="0" i="0" dirty="0">
                <a:effectLst/>
              </a:rPr>
              <a:t> -0.50445 Cambio relativo: -39.17 </a:t>
            </a:r>
          </a:p>
          <a:p>
            <a:r>
              <a:rPr lang="es-CO" b="1" i="0" dirty="0">
                <a:effectLst/>
              </a:rPr>
              <a:t>% Pares sobre la línea 1:1: 0.00 </a:t>
            </a:r>
            <a:r>
              <a:rPr lang="es-CO" b="0" i="0" dirty="0">
                <a:effectLst/>
              </a:rPr>
              <a:t>% Pares bajo la línea 1:1: 100.00 % Clasificación ITA: Recuperación piezométrica Regresión lineal OLS: Pendiente OLS: -0.39827 m/año R²: 0.35571 p-valor: 7.698462e-06 Clasificación OLS: Recuperación piezométrica Concordancia metodológica: ITA y OLS identifican la misma dirección hidrogeológica. Interpretación automática: La segunda mitad de la serie presenta profundidades promedio menores que la primera mitad. Debido a que el nivel estático se expresa como profundidad, este resultado corresponde a una recuperación piezométrica general.</a:t>
            </a:r>
            <a:endParaRPr lang="es-CO" dirty="0"/>
          </a:p>
        </p:txBody>
      </p:sp>
      <p:sp>
        <p:nvSpPr>
          <p:cNvPr id="7" name="CuadroTexto 6">
            <a:extLst>
              <a:ext uri="{FF2B5EF4-FFF2-40B4-BE49-F238E27FC236}">
                <a16:creationId xmlns:a16="http://schemas.microsoft.com/office/drawing/2014/main" id="{20009920-35C0-C5EE-E9A6-897EA8D67BB1}"/>
              </a:ext>
            </a:extLst>
          </p:cNvPr>
          <p:cNvSpPr txBox="1"/>
          <p:nvPr/>
        </p:nvSpPr>
        <p:spPr>
          <a:xfrm>
            <a:off x="721360" y="4826105"/>
            <a:ext cx="10749280" cy="1477328"/>
          </a:xfrm>
          <a:prstGeom prst="rect">
            <a:avLst/>
          </a:prstGeom>
          <a:noFill/>
          <a:ln>
            <a:solidFill>
              <a:schemeClr val="accent1"/>
            </a:solidFill>
          </a:ln>
        </p:spPr>
        <p:txBody>
          <a:bodyPr wrap="square">
            <a:spAutoFit/>
          </a:bodyPr>
          <a:lstStyle/>
          <a:p>
            <a:r>
              <a:rPr lang="es-CO" dirty="0"/>
              <a:t>Este pozo muestra un resultado diferente a los dos anteriores. La primera parte de la serie alcanza profundidades superiores a </a:t>
            </a:r>
            <a:r>
              <a:rPr lang="es-CO" b="1" dirty="0"/>
              <a:t>13 m</a:t>
            </a:r>
            <a:r>
              <a:rPr lang="es-CO" dirty="0"/>
              <a:t>, mientras que desde 2018 predominan valores cercanos a </a:t>
            </a:r>
            <a:r>
              <a:rPr lang="es-CO" b="1" dirty="0"/>
              <a:t>5–7 m</a:t>
            </a:r>
            <a:r>
              <a:rPr lang="es-CO" dirty="0"/>
              <a:t>. Por ello, el ITA puede clasificarlo como </a:t>
            </a:r>
            <a:r>
              <a:rPr lang="es-CO" b="1" dirty="0"/>
              <a:t>recuperación piezométrica</a:t>
            </a:r>
            <a:r>
              <a:rPr lang="es-CO" dirty="0"/>
              <a:t>, aunque la serie también evidencia una ligera profundización reciente entre 2020 y 2025. Esa diferencia entre la tendencia global y el comportamiento reciente será relevante para la discusión.</a:t>
            </a:r>
          </a:p>
        </p:txBody>
      </p:sp>
    </p:spTree>
    <p:extLst>
      <p:ext uri="{BB962C8B-B14F-4D97-AF65-F5344CB8AC3E}">
        <p14:creationId xmlns:p14="http://schemas.microsoft.com/office/powerpoint/2010/main" val="3469301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BE64329-CF28-2956-CB8F-18AADC826873}"/>
              </a:ext>
            </a:extLst>
          </p:cNvPr>
          <p:cNvPicPr>
            <a:picLocks noChangeAspect="1"/>
          </p:cNvPicPr>
          <p:nvPr/>
        </p:nvPicPr>
        <p:blipFill>
          <a:blip r:embed="rId2"/>
          <a:stretch>
            <a:fillRect/>
          </a:stretch>
        </p:blipFill>
        <p:spPr>
          <a:xfrm>
            <a:off x="1069214" y="1099814"/>
            <a:ext cx="9802577" cy="4916653"/>
          </a:xfrm>
          <a:prstGeom prst="rect">
            <a:avLst/>
          </a:prstGeom>
        </p:spPr>
      </p:pic>
    </p:spTree>
    <p:extLst>
      <p:ext uri="{BB962C8B-B14F-4D97-AF65-F5344CB8AC3E}">
        <p14:creationId xmlns:p14="http://schemas.microsoft.com/office/powerpoint/2010/main" val="2103096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B9090D4-4338-2F62-51A9-882B9570F8AA}"/>
              </a:ext>
            </a:extLst>
          </p:cNvPr>
          <p:cNvPicPr>
            <a:picLocks noChangeAspect="1"/>
          </p:cNvPicPr>
          <p:nvPr/>
        </p:nvPicPr>
        <p:blipFill>
          <a:blip r:embed="rId2"/>
          <a:stretch>
            <a:fillRect/>
          </a:stretch>
        </p:blipFill>
        <p:spPr>
          <a:xfrm>
            <a:off x="234576" y="408629"/>
            <a:ext cx="11686661" cy="5593450"/>
          </a:xfrm>
          <a:prstGeom prst="rect">
            <a:avLst/>
          </a:prstGeom>
        </p:spPr>
      </p:pic>
    </p:spTree>
    <p:extLst>
      <p:ext uri="{BB962C8B-B14F-4D97-AF65-F5344CB8AC3E}">
        <p14:creationId xmlns:p14="http://schemas.microsoft.com/office/powerpoint/2010/main" val="2752219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8A3DB-26F5-21A4-CF5B-40780ECD668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6F73C21-7722-F693-CE86-C90D585CCD9E}"/>
              </a:ext>
            </a:extLst>
          </p:cNvPr>
          <p:cNvSpPr txBox="1"/>
          <p:nvPr/>
        </p:nvSpPr>
        <p:spPr>
          <a:xfrm>
            <a:off x="963187" y="861987"/>
            <a:ext cx="6096928" cy="461665"/>
          </a:xfrm>
          <a:prstGeom prst="rect">
            <a:avLst/>
          </a:prstGeom>
          <a:noFill/>
        </p:spPr>
        <p:txBody>
          <a:bodyPr wrap="square">
            <a:spAutoFit/>
          </a:bodyPr>
          <a:lstStyle/>
          <a:p>
            <a:r>
              <a:rPr lang="es-CO" sz="2400" b="1" dirty="0">
                <a:solidFill>
                  <a:srgbClr val="0070C0"/>
                </a:solidFill>
              </a:rPr>
              <a:t>Referencias Utilizadas </a:t>
            </a:r>
            <a:endParaRPr lang="es-CO" dirty="0"/>
          </a:p>
        </p:txBody>
      </p:sp>
      <p:sp>
        <p:nvSpPr>
          <p:cNvPr id="5" name="CuadroTexto 4">
            <a:extLst>
              <a:ext uri="{FF2B5EF4-FFF2-40B4-BE49-F238E27FC236}">
                <a16:creationId xmlns:a16="http://schemas.microsoft.com/office/drawing/2014/main" id="{F70042AC-B92F-36BC-33C4-2BBD7595C0E7}"/>
              </a:ext>
            </a:extLst>
          </p:cNvPr>
          <p:cNvSpPr txBox="1"/>
          <p:nvPr/>
        </p:nvSpPr>
        <p:spPr>
          <a:xfrm>
            <a:off x="963187" y="1696963"/>
            <a:ext cx="10427784" cy="1323439"/>
          </a:xfrm>
          <a:prstGeom prst="rect">
            <a:avLst/>
          </a:prstGeom>
          <a:noFill/>
        </p:spPr>
        <p:txBody>
          <a:bodyPr wrap="square">
            <a:spAutoFit/>
          </a:bodyPr>
          <a:lstStyle/>
          <a:p>
            <a:pPr algn="just"/>
            <a:r>
              <a:rPr lang="es-CO" sz="2000" b="1" dirty="0">
                <a:solidFill>
                  <a:srgbClr val="002060"/>
                </a:solidFill>
              </a:rPr>
              <a:t>Ghosh, A., &amp; Bera, B. (2023). </a:t>
            </a:r>
            <a:r>
              <a:rPr lang="es-CO" sz="2000" b="1" dirty="0" err="1">
                <a:solidFill>
                  <a:srgbClr val="002060"/>
                </a:solidFill>
              </a:rPr>
              <a:t>Estimation</a:t>
            </a:r>
            <a:r>
              <a:rPr lang="es-CO" sz="2000" b="1" dirty="0">
                <a:solidFill>
                  <a:srgbClr val="002060"/>
                </a:solidFill>
              </a:rPr>
              <a:t> </a:t>
            </a:r>
            <a:r>
              <a:rPr lang="es-CO" sz="2000" b="1" dirty="0" err="1">
                <a:solidFill>
                  <a:srgbClr val="002060"/>
                </a:solidFill>
              </a:rPr>
              <a:t>of</a:t>
            </a:r>
            <a:r>
              <a:rPr lang="es-CO" sz="2000" b="1" dirty="0">
                <a:solidFill>
                  <a:srgbClr val="002060"/>
                </a:solidFill>
              </a:rPr>
              <a:t> </a:t>
            </a:r>
            <a:r>
              <a:rPr lang="es-CO" sz="2000" b="1" dirty="0" err="1">
                <a:solidFill>
                  <a:srgbClr val="002060"/>
                </a:solidFill>
              </a:rPr>
              <a:t>groundwater</a:t>
            </a:r>
            <a:r>
              <a:rPr lang="es-CO" sz="2000" b="1" dirty="0">
                <a:solidFill>
                  <a:srgbClr val="002060"/>
                </a:solidFill>
              </a:rPr>
              <a:t> </a:t>
            </a:r>
            <a:r>
              <a:rPr lang="es-CO" sz="2000" b="1" dirty="0" err="1">
                <a:solidFill>
                  <a:srgbClr val="002060"/>
                </a:solidFill>
              </a:rPr>
              <a:t>level</a:t>
            </a:r>
            <a:r>
              <a:rPr lang="es-CO" sz="2000" b="1" dirty="0">
                <a:solidFill>
                  <a:srgbClr val="002060"/>
                </a:solidFill>
              </a:rPr>
              <a:t> and </a:t>
            </a:r>
            <a:r>
              <a:rPr lang="es-CO" sz="2000" b="1" dirty="0" err="1">
                <a:solidFill>
                  <a:srgbClr val="002060"/>
                </a:solidFill>
              </a:rPr>
              <a:t>storage</a:t>
            </a:r>
            <a:r>
              <a:rPr lang="es-CO" sz="2000" b="1" dirty="0">
                <a:solidFill>
                  <a:srgbClr val="002060"/>
                </a:solidFill>
              </a:rPr>
              <a:t> </a:t>
            </a:r>
            <a:r>
              <a:rPr lang="es-CO" sz="2000" b="1" dirty="0" err="1">
                <a:solidFill>
                  <a:srgbClr val="002060"/>
                </a:solidFill>
              </a:rPr>
              <a:t>changes</a:t>
            </a:r>
            <a:r>
              <a:rPr lang="es-CO" sz="2000" b="1" dirty="0">
                <a:solidFill>
                  <a:srgbClr val="002060"/>
                </a:solidFill>
              </a:rPr>
              <a:t> </a:t>
            </a:r>
            <a:r>
              <a:rPr lang="es-CO" sz="2000" b="1" dirty="0" err="1">
                <a:solidFill>
                  <a:srgbClr val="002060"/>
                </a:solidFill>
              </a:rPr>
              <a:t>using</a:t>
            </a:r>
            <a:r>
              <a:rPr lang="es-CO" sz="2000" b="1" dirty="0">
                <a:solidFill>
                  <a:srgbClr val="002060"/>
                </a:solidFill>
              </a:rPr>
              <a:t> innovative </a:t>
            </a:r>
            <a:r>
              <a:rPr lang="es-CO" sz="2000" b="1" dirty="0" err="1">
                <a:solidFill>
                  <a:srgbClr val="002060"/>
                </a:solidFill>
              </a:rPr>
              <a:t>trend</a:t>
            </a:r>
            <a:r>
              <a:rPr lang="es-CO" sz="2000" b="1" dirty="0">
                <a:solidFill>
                  <a:srgbClr val="002060"/>
                </a:solidFill>
              </a:rPr>
              <a:t> </a:t>
            </a:r>
            <a:r>
              <a:rPr lang="es-CO" sz="2000" b="1" dirty="0" err="1">
                <a:solidFill>
                  <a:srgbClr val="002060"/>
                </a:solidFill>
              </a:rPr>
              <a:t>analysis</a:t>
            </a:r>
            <a:r>
              <a:rPr lang="es-CO" sz="2000" b="1" dirty="0">
                <a:solidFill>
                  <a:srgbClr val="002060"/>
                </a:solidFill>
              </a:rPr>
              <a:t> (ITA), GRACE data, and </a:t>
            </a:r>
            <a:r>
              <a:rPr lang="es-CO" sz="2000" b="1" dirty="0" err="1">
                <a:solidFill>
                  <a:srgbClr val="002060"/>
                </a:solidFill>
              </a:rPr>
              <a:t>google</a:t>
            </a:r>
            <a:r>
              <a:rPr lang="es-CO" sz="2000" b="1" dirty="0">
                <a:solidFill>
                  <a:srgbClr val="002060"/>
                </a:solidFill>
              </a:rPr>
              <a:t> </a:t>
            </a:r>
            <a:r>
              <a:rPr lang="es-CO" sz="2000" b="1" dirty="0" err="1">
                <a:solidFill>
                  <a:srgbClr val="002060"/>
                </a:solidFill>
              </a:rPr>
              <a:t>earth</a:t>
            </a:r>
            <a:r>
              <a:rPr lang="es-CO" sz="2000" b="1" dirty="0">
                <a:solidFill>
                  <a:srgbClr val="002060"/>
                </a:solidFill>
              </a:rPr>
              <a:t> </a:t>
            </a:r>
            <a:r>
              <a:rPr lang="es-CO" sz="2000" b="1" dirty="0" err="1">
                <a:solidFill>
                  <a:srgbClr val="002060"/>
                </a:solidFill>
              </a:rPr>
              <a:t>engine</a:t>
            </a:r>
            <a:r>
              <a:rPr lang="es-CO" sz="2000" b="1" dirty="0">
                <a:solidFill>
                  <a:srgbClr val="002060"/>
                </a:solidFill>
              </a:rPr>
              <a:t> (GEE). </a:t>
            </a:r>
            <a:r>
              <a:rPr lang="es-CO" sz="2000" b="1" dirty="0" err="1">
                <a:solidFill>
                  <a:srgbClr val="002060"/>
                </a:solidFill>
              </a:rPr>
              <a:t>Groundw</a:t>
            </a:r>
            <a:r>
              <a:rPr lang="es-CO" sz="2000" b="1" dirty="0">
                <a:solidFill>
                  <a:srgbClr val="002060"/>
                </a:solidFill>
              </a:rPr>
              <a:t> </a:t>
            </a:r>
            <a:r>
              <a:rPr lang="es-CO" sz="2000" b="1" dirty="0" err="1">
                <a:solidFill>
                  <a:srgbClr val="002060"/>
                </a:solidFill>
              </a:rPr>
              <a:t>Sustain</a:t>
            </a:r>
            <a:r>
              <a:rPr lang="es-CO" sz="2000" b="1" dirty="0">
                <a:solidFill>
                  <a:srgbClr val="002060"/>
                </a:solidFill>
              </a:rPr>
              <a:t> Dev 23 (101003): 1–15. </a:t>
            </a:r>
          </a:p>
          <a:p>
            <a:pPr algn="just"/>
            <a:r>
              <a:rPr lang="es-CO" sz="2000" b="1" dirty="0">
                <a:solidFill>
                  <a:schemeClr val="accent3"/>
                </a:solidFill>
              </a:rPr>
              <a:t>DOI:</a:t>
            </a:r>
            <a:r>
              <a:rPr lang="es-CO" sz="2000" b="1" dirty="0">
                <a:solidFill>
                  <a:srgbClr val="002060"/>
                </a:solidFill>
              </a:rPr>
              <a:t> </a:t>
            </a:r>
            <a:r>
              <a:rPr lang="es-CO" sz="2000" b="1" dirty="0">
                <a:solidFill>
                  <a:srgbClr val="002060"/>
                </a:solidFill>
                <a:hlinkClick r:id="rId2"/>
              </a:rPr>
              <a:t>https://doi.org/10.1016/j.gsd.2023.101003</a:t>
            </a:r>
            <a:endParaRPr lang="es-CO" sz="2000" b="1" dirty="0">
              <a:solidFill>
                <a:srgbClr val="002060"/>
              </a:solidFill>
            </a:endParaRPr>
          </a:p>
        </p:txBody>
      </p:sp>
    </p:spTree>
    <p:extLst>
      <p:ext uri="{BB962C8B-B14F-4D97-AF65-F5344CB8AC3E}">
        <p14:creationId xmlns:p14="http://schemas.microsoft.com/office/powerpoint/2010/main" val="113549142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790</TotalTime>
  <Words>1315</Words>
  <Application>Microsoft Office PowerPoint</Application>
  <PresentationFormat>Panorámica</PresentationFormat>
  <Paragraphs>107</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Aptos Display</vt:lpstr>
      <vt:lpstr>Arial</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Segundo Cohen Manrique</dc:creator>
  <cp:lastModifiedBy>Carlos Segundo Cohen Manrique</cp:lastModifiedBy>
  <cp:revision>26</cp:revision>
  <dcterms:created xsi:type="dcterms:W3CDTF">2026-07-17T19:49:21Z</dcterms:created>
  <dcterms:modified xsi:type="dcterms:W3CDTF">2026-09-02T21:38:01Z</dcterms:modified>
</cp:coreProperties>
</file>